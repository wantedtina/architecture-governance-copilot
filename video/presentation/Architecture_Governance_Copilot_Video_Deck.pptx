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39cacb55b4031" /><Relationship Type="http://schemas.openxmlformats.org/officeDocument/2006/relationships/extended-properties" Target="/docProps/app.xml" Id="Rb6ff8524746e4274" /><Relationship Type="http://schemas.openxmlformats.org/officeDocument/2006/relationships/officeDocument" Target="/ppt/presentation.xml" Id="Rc7a4c20bd23a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5a41236fd442d"/>
  </p:sldMasterIdLst>
  <p:notesMasterIdLst>
    <p:notesMasterId xmlns:r="http://schemas.openxmlformats.org/officeDocument/2006/relationships" r:id="R8a4b147d8a774523"/>
  </p:notesMasterIdLst>
  <p:sldIdLst>
    <p:sldId xmlns:r="http://schemas.openxmlformats.org/officeDocument/2006/relationships" id="256" r:id="R7f75eff8ac0143bc"/>
    <p:sldId xmlns:r="http://schemas.openxmlformats.org/officeDocument/2006/relationships" id="257" r:id="Rb156415850de480c"/>
    <p:sldId xmlns:r="http://schemas.openxmlformats.org/officeDocument/2006/relationships" id="258" r:id="Ra2c1cef040b041a3"/>
    <p:sldId xmlns:r="http://schemas.openxmlformats.org/officeDocument/2006/relationships" id="259" r:id="R649716789b5843b6"/>
    <p:sldId xmlns:r="http://schemas.openxmlformats.org/officeDocument/2006/relationships" id="260" r:id="Rb67d26fb41bb499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6a4b2979854201" /><Relationship Type="http://schemas.openxmlformats.org/officeDocument/2006/relationships/slideMaster" Target="/ppt/slideMasters/slideMaster1.xml" Id="R8f05a41236fd442d" /><Relationship Type="http://schemas.openxmlformats.org/officeDocument/2006/relationships/notesMaster" Target="/ppt/notesMasters/notesMaster1.xml" Id="R8a4b147d8a774523" /><Relationship Type="http://schemas.openxmlformats.org/officeDocument/2006/relationships/presProps" Target="/ppt/presProps.xml" Id="Re7e1f8d6bdf94365" /><Relationship Type="http://schemas.openxmlformats.org/officeDocument/2006/relationships/tableStyles" Target="/ppt/tableStyles.xml" Id="R677c04b41b5e4bcd" /><Relationship Type="http://schemas.openxmlformats.org/officeDocument/2006/relationships/slide" Target="/ppt/slides/slide1.xml" Id="R7f75eff8ac0143bc" /><Relationship Type="http://schemas.openxmlformats.org/officeDocument/2006/relationships/slide" Target="/ppt/slides/slide2.xml" Id="Rb156415850de480c" /><Relationship Type="http://schemas.openxmlformats.org/officeDocument/2006/relationships/slide" Target="/ppt/slides/slide3.xml" Id="Ra2c1cef040b041a3" /><Relationship Type="http://schemas.openxmlformats.org/officeDocument/2006/relationships/slide" Target="/ppt/slides/slide4.xml" Id="R649716789b5843b6" /><Relationship Type="http://schemas.openxmlformats.org/officeDocument/2006/relationships/slide" Target="/ppt/slides/slide5.xml" Id="Rb67d26fb41bb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7a35de79e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1a6d3b0804d9e" /><Relationship Type="http://schemas.openxmlformats.org/officeDocument/2006/relationships/notesMaster" Target="/ppt/notesMasters/notesMaster1.xml" Id="R9ade205494e9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734ac29674431" /><Relationship Type="http://schemas.openxmlformats.org/officeDocument/2006/relationships/notesMaster" Target="/ppt/notesMasters/notesMaster1.xml" Id="Rdf4012e9513c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7106097c84e41" /><Relationship Type="http://schemas.openxmlformats.org/officeDocument/2006/relationships/notesMaster" Target="/ppt/notesMasters/notesMaster1.xml" Id="Rd89a05354f5f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a57177f6544fc" /><Relationship Type="http://schemas.openxmlformats.org/officeDocument/2006/relationships/notesMaster" Target="/ppt/notesMasters/notesMaster1.xml" Id="Rd3605346a46b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5b384df8044e4" /><Relationship Type="http://schemas.openxmlformats.org/officeDocument/2006/relationships/notesMaster" Target="/ppt/notesMasters/notesMaster1.xml" Id="R6c47ffe2bc5a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8d09a092e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64168e0d04731" /><Relationship Type="http://schemas.openxmlformats.org/officeDocument/2006/relationships/slideLayout" Target="/ppt/slideLayouts/slideLayout1.xml" Id="Rd02c2dabe27e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c2dabe27e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ab87f4dbb4173" /><Relationship Type="http://schemas.openxmlformats.org/officeDocument/2006/relationships/notesSlide" Target="/ppt/notesSlides/notesSlide1.xml" Id="R19fe0eec80e2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7d5ed2a5542e3" /><Relationship Type="http://schemas.openxmlformats.org/officeDocument/2006/relationships/notesSlide" Target="/ppt/notesSlides/notesSlide2.xml" Id="R7eacd4327779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1dca70e254f4c" /><Relationship Type="http://schemas.openxmlformats.org/officeDocument/2006/relationships/notesSlide" Target="/ppt/notesSlides/notesSlide3.xml" Id="R8b0fc1415878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f84eb89d9493e" /><Relationship Type="http://schemas.openxmlformats.org/officeDocument/2006/relationships/notesSlide" Target="/ppt/notesSlides/notesSlide4.xml" Id="R35ba969464b7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c21560e804f78" /><Relationship Type="http://schemas.openxmlformats.org/officeDocument/2006/relationships/notesSlide" Target="/ppt/notesSlides/notesSlide5.xml" Id="Rc320e77c7db7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lue-accent">
            <a:extLst xmlns:a="http://schemas.openxmlformats.org/drawingml/2006/main">
              <a:ext uri="{FF2B5EF4-FFF2-40B4-BE49-F238E27FC236}">
                <a16:creationId xmlns:a16="http://schemas.microsoft.com/office/drawing/2014/main" id="{3E95DDE8-7CF3-4256-AFD0-DFE21CE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7A91F8C1-59A1-4C5A-9C09-DC24811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block">
            <a:extLst xmlns:a="http://schemas.openxmlformats.org/drawingml/2006/main">
              <a:ext uri="{FF2B5EF4-FFF2-40B4-BE49-F238E27FC236}">
                <a16:creationId xmlns:a16="http://schemas.microsoft.com/office/drawing/2014/main" id="{38C49EE4-F0DD-4D45-B4C4-E7DB93C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0"/>
            <a:ext cx="4762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E521448B-9849-4F9F-8A36-50AACD3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0"/>
            <a:ext cx="381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agc-mark">
            <a:extLst xmlns:a="http://schemas.openxmlformats.org/drawingml/2006/main">
              <a:ext uri="{FF2B5EF4-FFF2-40B4-BE49-F238E27FC236}">
                <a16:creationId xmlns:a16="http://schemas.microsoft.com/office/drawing/2014/main" id="{B1A16CC8-731E-4B28-894E-3843CEF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6" name="agc-mark-text">
            <a:extLst xmlns:a="http://schemas.openxmlformats.org/drawingml/2006/main">
              <a:ext uri="{FF2B5EF4-FFF2-40B4-BE49-F238E27FC236}">
                <a16:creationId xmlns:a16="http://schemas.microsoft.com/office/drawing/2014/main" id="{B0884FBA-1F42-49EC-9735-F79EBBC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1239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AGC</a:t>
            </a:r>
          </a:p>
        </p:txBody>
      </p:sp>
      <p:sp>
        <p:nvSpPr>
          <p:cNvPr id="7" name="hackathon">
            <a:extLst xmlns:a="http://schemas.openxmlformats.org/drawingml/2006/main">
              <a:ext uri="{FF2B5EF4-FFF2-40B4-BE49-F238E27FC236}">
                <a16:creationId xmlns:a16="http://schemas.microsoft.com/office/drawing/2014/main" id="{887070AB-5AAC-4F9D-8D9C-BFD8BBBA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8" name="project">
            <a:extLst xmlns:a="http://schemas.openxmlformats.org/drawingml/2006/main">
              <a:ext uri="{FF2B5EF4-FFF2-40B4-BE49-F238E27FC236}">
                <a16:creationId xmlns:a16="http://schemas.microsoft.com/office/drawing/2014/main" id="{E845C00C-D5A8-409B-B5CE-0019DBD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23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Architecture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Governance Copilot</a:t>
            </a:r>
          </a:p>
        </p:txBody>
      </p:sp>
      <p:sp>
        <p:nvSpPr>
          <p:cNvPr id="9" name="message">
            <a:extLst xmlns:a="http://schemas.openxmlformats.org/drawingml/2006/main">
              <a:ext uri="{FF2B5EF4-FFF2-40B4-BE49-F238E27FC236}">
                <a16:creationId xmlns:a16="http://schemas.microsoft.com/office/drawing/2014/main" id="{760D262C-C273-4141-AAE5-AC03106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Evidence-backed review. Human accountability.</a:t>
            </a:r>
          </a:p>
        </p:txBody>
      </p:sp>
      <p:sp>
        <p:nvSpPr>
          <p:cNvPr id="10" name="team">
            <a:extLst xmlns:a="http://schemas.openxmlformats.org/drawingml/2006/main">
              <a:ext uri="{FF2B5EF4-FFF2-40B4-BE49-F238E27FC236}">
                <a16:creationId xmlns:a16="http://schemas.microsoft.com/office/drawing/2014/main" id="{B958368D-0B13-43B0-B7B1-7424905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B112395F-788F-4AD1-B381-2A684F7C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2" name="member">
            <a:extLst xmlns:a="http://schemas.openxmlformats.org/drawingml/2006/main">
              <a:ext uri="{FF2B5EF4-FFF2-40B4-BE49-F238E27FC236}">
                <a16:creationId xmlns:a16="http://schemas.microsoft.com/office/drawing/2014/main" id="{63744548-5932-4DEF-A3D7-29D6EE19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05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3" name="neutral-note">
            <a:extLst xmlns:a="http://schemas.openxmlformats.org/drawingml/2006/main">
              <a:ext uri="{FF2B5EF4-FFF2-40B4-BE49-F238E27FC236}">
                <a16:creationId xmlns:a16="http://schemas.microsoft.com/office/drawing/2014/main" id="{D64D36C5-AA92-4544-9174-48551772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91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Internal hackathon 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11947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blue-accent">
            <a:extLst xmlns:a="http://schemas.openxmlformats.org/drawingml/2006/main">
              <a:ext uri="{FF2B5EF4-FFF2-40B4-BE49-F238E27FC236}">
                <a16:creationId xmlns:a16="http://schemas.microsoft.com/office/drawing/2014/main" id="{64CED6D8-0152-47BC-A3BC-72CCCD5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56BA0A90-D060-444D-994C-BCA1DEC0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BB1C94-7493-4230-A357-4C0A59E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CURRENT GOVERNANCE PROCESS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71F389-E082-444E-84D9-3FC2FAD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Architecture review spans documents, meetings, and tracked work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9C7D844-38E5-4B9D-B380-2EAFFF6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524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27D"/>
                </a:solidFill>
              </a:defRPr>
            </a:pPr>
            <a:r>
              <a:rPr sz="1725" b="0">
                <a:solidFill>
                  <a:srgbClr val="66727D"/>
                </a:solidFill>
              </a:rPr>
              <a:t>The Domain Architect remains the formal decision authority across review rounds.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5C80FEE9-DCCA-45F6-B641-DA16136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A8434CAC-D3A6-4E5B-A8F1-8154C48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ber-text-1">
            <a:extLst xmlns:a="http://schemas.openxmlformats.org/drawingml/2006/main">
              <a:ext uri="{FF2B5EF4-FFF2-40B4-BE49-F238E27FC236}">
                <a16:creationId xmlns:a16="http://schemas.microsoft.com/office/drawing/2014/main" id="{EBA69515-FB5E-4BD0-B2DA-31B83F7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D52F4CA7-5FB3-4717-8723-9241D65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Project Team</a:t>
            </a:r>
          </a:p>
        </p:txBody>
      </p:sp>
      <p:sp>
        <p:nvSpPr>
          <p:cNvPr id="10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2D060851-97E6-4DD0-AA71-B4C2E3B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Prepare the SI using the required template</a:t>
            </a:r>
          </a:p>
        </p:txBody>
      </p:sp>
      <p:sp>
        <p:nvSpPr>
          <p:cNvPr id="11" name="process-2">
            <a:extLst xmlns:a="http://schemas.openxmlformats.org/drawingml/2006/main">
              <a:ext uri="{FF2B5EF4-FFF2-40B4-BE49-F238E27FC236}">
                <a16:creationId xmlns:a16="http://schemas.microsoft.com/office/drawing/2014/main" id="{5312B195-E88B-444F-9021-A379FAD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2" name="number-2">
            <a:extLst xmlns:a="http://schemas.openxmlformats.org/drawingml/2006/main">
              <a:ext uri="{FF2B5EF4-FFF2-40B4-BE49-F238E27FC236}">
                <a16:creationId xmlns:a16="http://schemas.microsoft.com/office/drawing/2014/main" id="{478C62AA-15EA-40CA-9D59-8293E1E2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ber-text-2">
            <a:extLst xmlns:a="http://schemas.openxmlformats.org/drawingml/2006/main">
              <a:ext uri="{FF2B5EF4-FFF2-40B4-BE49-F238E27FC236}">
                <a16:creationId xmlns:a16="http://schemas.microsoft.com/office/drawing/2014/main" id="{76D5740C-BE58-4026-A97B-ECAFAFE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86F35F58-A493-48A6-8A8B-919F821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Solution Intent in Confluence</a:t>
            </a:r>
          </a:p>
        </p:txBody>
      </p:sp>
      <p:sp>
        <p:nvSpPr>
          <p:cNvPr id="15" name="process-detail-2">
            <a:extLst xmlns:a="http://schemas.openxmlformats.org/drawingml/2006/main">
              <a:ext uri="{FF2B5EF4-FFF2-40B4-BE49-F238E27FC236}">
                <a16:creationId xmlns:a16="http://schemas.microsoft.com/office/drawing/2014/main" id="{83FA0426-9209-48BD-9BA9-64D28FB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Official document and design baseline</a:t>
            </a:r>
          </a:p>
        </p:txBody>
      </p:sp>
      <p:sp>
        <p:nvSpPr>
          <p:cNvPr id="16" name="process-3">
            <a:extLst xmlns:a="http://schemas.openxmlformats.org/drawingml/2006/main">
              <a:ext uri="{FF2B5EF4-FFF2-40B4-BE49-F238E27FC236}">
                <a16:creationId xmlns:a16="http://schemas.microsoft.com/office/drawing/2014/main" id="{40633B00-0B52-44E7-A85E-8DCC48C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number-3">
            <a:extLst xmlns:a="http://schemas.openxmlformats.org/drawingml/2006/main">
              <a:ext uri="{FF2B5EF4-FFF2-40B4-BE49-F238E27FC236}">
                <a16:creationId xmlns:a16="http://schemas.microsoft.com/office/drawing/2014/main" id="{175B4D4F-0B15-4B0A-AB31-62ACA7D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ber-text-3">
            <a:extLst xmlns:a="http://schemas.openxmlformats.org/drawingml/2006/main">
              <a:ext uri="{FF2B5EF4-FFF2-40B4-BE49-F238E27FC236}">
                <a16:creationId xmlns:a16="http://schemas.microsoft.com/office/drawing/2014/main" id="{7C4E7774-5823-4B63-9D94-ECE0246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57273125-EBB5-4261-9273-61F814C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Domain Review in Teams</a:t>
            </a:r>
          </a:p>
        </p:txBody>
      </p:sp>
      <p:sp>
        <p:nvSpPr>
          <p:cNvPr id="20" name="process-detail-3">
            <a:extLst xmlns:a="http://schemas.openxmlformats.org/drawingml/2006/main">
              <a:ext uri="{FF2B5EF4-FFF2-40B4-BE49-F238E27FC236}">
                <a16:creationId xmlns:a16="http://schemas.microsoft.com/office/drawing/2014/main" id="{12A0CD50-9A8E-4358-AD68-059E9D9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Review meeting with transcription when enabled</a:t>
            </a:r>
          </a:p>
        </p:txBody>
      </p:sp>
      <p:sp>
        <p:nvSpPr>
          <p:cNvPr id="21" name="process-4">
            <a:extLst xmlns:a="http://schemas.openxmlformats.org/drawingml/2006/main">
              <a:ext uri="{FF2B5EF4-FFF2-40B4-BE49-F238E27FC236}">
                <a16:creationId xmlns:a16="http://schemas.microsoft.com/office/drawing/2014/main" id="{46CB7109-52A1-4EB0-A024-F388A80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2" name="number-4">
            <a:extLst xmlns:a="http://schemas.openxmlformats.org/drawingml/2006/main">
              <a:ext uri="{FF2B5EF4-FFF2-40B4-BE49-F238E27FC236}">
                <a16:creationId xmlns:a16="http://schemas.microsoft.com/office/drawing/2014/main" id="{3EDE2147-D288-45DF-84C8-E6033C0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umber-text-4">
            <a:extLst xmlns:a="http://schemas.openxmlformats.org/drawingml/2006/main">
              <a:ext uri="{FF2B5EF4-FFF2-40B4-BE49-F238E27FC236}">
                <a16:creationId xmlns:a16="http://schemas.microsoft.com/office/drawing/2014/main" id="{26FA2528-4AFA-4223-ABD1-5E9C4B1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EF48C21C-2E89-4545-B22B-BABCAD5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Findings and Changes</a:t>
            </a:r>
          </a:p>
        </p:txBody>
      </p:sp>
      <p:sp>
        <p:nvSpPr>
          <p:cNvPr id="25" name="process-detail-4">
            <a:extLst xmlns:a="http://schemas.openxmlformats.org/drawingml/2006/main">
              <a:ext uri="{FF2B5EF4-FFF2-40B4-BE49-F238E27FC236}">
                <a16:creationId xmlns:a16="http://schemas.microsoft.com/office/drawing/2014/main" id="{2D7CC056-2F51-4E2C-A1C7-89255E7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Communicate required updates and evidence</a:t>
            </a:r>
          </a:p>
        </p:txBody>
      </p:sp>
      <p:sp>
        <p:nvSpPr>
          <p:cNvPr id="26" name="process-5">
            <a:extLst xmlns:a="http://schemas.openxmlformats.org/drawingml/2006/main">
              <a:ext uri="{FF2B5EF4-FFF2-40B4-BE49-F238E27FC236}">
                <a16:creationId xmlns:a16="http://schemas.microsoft.com/office/drawing/2014/main" id="{4BCA38D1-1966-49FE-BC72-BBBFA03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7" name="number-5">
            <a:extLst xmlns:a="http://schemas.openxmlformats.org/drawingml/2006/main">
              <a:ext uri="{FF2B5EF4-FFF2-40B4-BE49-F238E27FC236}">
                <a16:creationId xmlns:a16="http://schemas.microsoft.com/office/drawing/2014/main" id="{D83B3E19-CF82-4844-9BEA-9EC72911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umber-text-5">
            <a:extLst xmlns:a="http://schemas.openxmlformats.org/drawingml/2006/main">
              <a:ext uri="{FF2B5EF4-FFF2-40B4-BE49-F238E27FC236}">
                <a16:creationId xmlns:a16="http://schemas.microsoft.com/office/drawing/2014/main" id="{9770C767-23CB-4183-90E5-F0FAC8D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process-title-5">
            <a:extLst xmlns:a="http://schemas.openxmlformats.org/drawingml/2006/main">
              <a:ext uri="{FF2B5EF4-FFF2-40B4-BE49-F238E27FC236}">
                <a16:creationId xmlns:a16="http://schemas.microsoft.com/office/drawing/2014/main" id="{55DAA8EE-1308-475A-9788-98C8FBF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SI Revision</a:t>
            </a:r>
          </a:p>
        </p:txBody>
      </p:sp>
      <p:sp>
        <p:nvSpPr>
          <p:cNvPr id="30" name="process-detail-5">
            <a:extLst xmlns:a="http://schemas.openxmlformats.org/drawingml/2006/main">
              <a:ext uri="{FF2B5EF4-FFF2-40B4-BE49-F238E27FC236}">
                <a16:creationId xmlns:a16="http://schemas.microsoft.com/office/drawing/2014/main" id="{22BB5AA7-E236-4AC1-8F6F-0020F22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Project team updates the official SI</a:t>
            </a:r>
          </a:p>
        </p:txBody>
      </p:sp>
      <p:sp>
        <p:nvSpPr>
          <p:cNvPr id="31" name="process-6">
            <a:extLst xmlns:a="http://schemas.openxmlformats.org/drawingml/2006/main">
              <a:ext uri="{FF2B5EF4-FFF2-40B4-BE49-F238E27FC236}">
                <a16:creationId xmlns:a16="http://schemas.microsoft.com/office/drawing/2014/main" id="{D7683908-047A-40A0-9CBD-6FE4190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2" name="number-6">
            <a:extLst xmlns:a="http://schemas.openxmlformats.org/drawingml/2006/main">
              <a:ext uri="{FF2B5EF4-FFF2-40B4-BE49-F238E27FC236}">
                <a16:creationId xmlns:a16="http://schemas.microsoft.com/office/drawing/2014/main" id="{C35A370A-DB40-42E2-9341-26FF5407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3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umber-text-6">
            <a:extLst xmlns:a="http://schemas.openxmlformats.org/drawingml/2006/main">
              <a:ext uri="{FF2B5EF4-FFF2-40B4-BE49-F238E27FC236}">
                <a16:creationId xmlns:a16="http://schemas.microsoft.com/office/drawing/2014/main" id="{A55BD360-A8AB-419F-BEF9-2E3E885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process-title-6">
            <a:extLst xmlns:a="http://schemas.openxmlformats.org/drawingml/2006/main">
              <a:ext uri="{FF2B5EF4-FFF2-40B4-BE49-F238E27FC236}">
                <a16:creationId xmlns:a16="http://schemas.microsoft.com/office/drawing/2014/main" id="{772AB4F6-7819-46F0-9D5C-00A5EC5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Further Review → Approval</a:t>
            </a:r>
          </a:p>
        </p:txBody>
      </p:sp>
      <p:sp>
        <p:nvSpPr>
          <p:cNvPr id="35" name="process-detail-6">
            <a:extLst xmlns:a="http://schemas.openxmlformats.org/drawingml/2006/main">
              <a:ext uri="{FF2B5EF4-FFF2-40B4-BE49-F238E27FC236}">
                <a16:creationId xmlns:a16="http://schemas.microsoft.com/office/drawing/2014/main" id="{815EA969-42D2-48BA-89D7-5319894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Repeat until Domain Architect approval</a:t>
            </a:r>
          </a:p>
        </p:txBody>
      </p:sp>
      <p:sp>
        <p:nvSpPr>
          <p:cNvPr id="36" name="arrow-1">
            <a:extLst xmlns:a="http://schemas.openxmlformats.org/drawingml/2006/main">
              <a:ext uri="{FF2B5EF4-FFF2-40B4-BE49-F238E27FC236}">
                <a16:creationId xmlns:a16="http://schemas.microsoft.com/office/drawing/2014/main" id="{94EA0FE8-1EAA-4622-8C66-2C2067EB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7" name="arrow-2">
            <a:extLst xmlns:a="http://schemas.openxmlformats.org/drawingml/2006/main">
              <a:ext uri="{FF2B5EF4-FFF2-40B4-BE49-F238E27FC236}">
                <a16:creationId xmlns:a16="http://schemas.microsoft.com/office/drawing/2014/main" id="{E9D8EBF6-AEC9-48D5-9144-00ADC2B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8" name="arrow-3">
            <a:extLst xmlns:a="http://schemas.openxmlformats.org/drawingml/2006/main">
              <a:ext uri="{FF2B5EF4-FFF2-40B4-BE49-F238E27FC236}">
                <a16:creationId xmlns:a16="http://schemas.microsoft.com/office/drawing/2014/main" id="{47FC4DA0-5657-4092-90BE-050AA2A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9" name="arrow-4">
            <a:extLst xmlns:a="http://schemas.openxmlformats.org/drawingml/2006/main">
              <a:ext uri="{FF2B5EF4-FFF2-40B4-BE49-F238E27FC236}">
                <a16:creationId xmlns:a16="http://schemas.microsoft.com/office/drawing/2014/main" id="{C8291EFD-21EC-4670-9A14-4CF9A8A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38500"/>
                </a:solidFill>
              </a:defRPr>
            </a:pPr>
            <a:r>
              <a:rPr sz="30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40" name="ado-tag-surface">
            <a:extLst xmlns:a="http://schemas.openxmlformats.org/drawingml/2006/main">
              <a:ext uri="{FF2B5EF4-FFF2-40B4-BE49-F238E27FC236}">
                <a16:creationId xmlns:a16="http://schemas.microsoft.com/office/drawing/2014/main" id="{3322562F-547A-4E48-AB7F-25A9B3C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666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41" name="ado-tag">
            <a:extLst xmlns:a="http://schemas.openxmlformats.org/drawingml/2006/main">
              <a:ext uri="{FF2B5EF4-FFF2-40B4-BE49-F238E27FC236}">
                <a16:creationId xmlns:a16="http://schemas.microsoft.com/office/drawing/2014/main" id="{A7C506AE-2DEF-4BC2-B518-4998587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ADO governance ticket · tracked actions · manual handoffs</a:t>
            </a:r>
          </a:p>
        </p:txBody>
      </p:sp>
      <p:sp>
        <p:nvSpPr>
          <p:cNvPr id="42" name="normalization-surface">
            <a:extLst xmlns:a="http://schemas.openxmlformats.org/drawingml/2006/main">
              <a:ext uri="{FF2B5EF4-FFF2-40B4-BE49-F238E27FC236}">
                <a16:creationId xmlns:a16="http://schemas.microsoft.com/office/drawing/2014/main" id="{8EB4C5AC-566A-4FF2-B3E6-9AE762E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53350"/>
            <a:ext cx="1653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43" name="norm-title">
            <a:extLst xmlns:a="http://schemas.openxmlformats.org/drawingml/2006/main">
              <a:ext uri="{FF2B5EF4-FFF2-40B4-BE49-F238E27FC236}">
                <a16:creationId xmlns:a16="http://schemas.microsoft.com/office/drawing/2014/main" id="{BDFA8971-9A2C-4231-99BE-E741C35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02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PoC normalization</a:t>
            </a:r>
          </a:p>
        </p:txBody>
      </p:sp>
      <p:sp>
        <p:nvSpPr>
          <p:cNvPr id="44" name="norm-one">
            <a:extLst xmlns:a="http://schemas.openxmlformats.org/drawingml/2006/main">
              <a:ext uri="{FF2B5EF4-FFF2-40B4-BE49-F238E27FC236}">
                <a16:creationId xmlns:a16="http://schemas.microsoft.com/office/drawing/2014/main" id="{64FD42A8-4DF4-486E-978D-59F841F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9819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Confluence content  →  normalized SI content</a:t>
            </a:r>
          </a:p>
        </p:txBody>
      </p:sp>
      <p:sp>
        <p:nvSpPr>
          <p:cNvPr id="45" name="norm-two">
            <a:extLst xmlns:a="http://schemas.openxmlformats.org/drawingml/2006/main">
              <a:ext uri="{FF2B5EF4-FFF2-40B4-BE49-F238E27FC236}">
                <a16:creationId xmlns:a16="http://schemas.microsoft.com/office/drawing/2014/main" id="{E2D55C47-AB1B-48B7-A040-FDF8014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981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Teams transcript  →  normalized review transcript</a:t>
            </a:r>
          </a:p>
        </p:txBody>
      </p:sp>
      <p:sp>
        <p:nvSpPr>
          <p:cNvPr id="46" name="norm-note">
            <a:extLst xmlns:a="http://schemas.openxmlformats.org/drawingml/2006/main">
              <a:ext uri="{FF2B5EF4-FFF2-40B4-BE49-F238E27FC236}">
                <a16:creationId xmlns:a16="http://schemas.microsoft.com/office/drawing/2014/main" id="{10263F34-434E-404C-9403-4B9E2FF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5534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FD1DE"/>
                </a:solidFill>
              </a:defRPr>
            </a:pPr>
            <a:r>
              <a:rPr sz="1425" b="0">
                <a:solidFill>
                  <a:srgbClr val="BFD1DE"/>
                </a:solidFill>
              </a:rPr>
              <a:t>Synthetic inputs in this PoC · future approved connectors are not implemented</a:t>
            </a:r>
          </a:p>
        </p:txBody>
      </p:sp>
      <p:sp>
        <p:nvSpPr>
          <p:cNvPr id="47" name="footer-2">
            <a:extLst xmlns:a="http://schemas.openxmlformats.org/drawingml/2006/main">
              <a:ext uri="{FF2B5EF4-FFF2-40B4-BE49-F238E27FC236}">
                <a16:creationId xmlns:a16="http://schemas.microsoft.com/office/drawing/2014/main" id="{2A90515D-51A9-4638-BE7A-38C56A11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48" name="page-2">
            <a:extLst xmlns:a="http://schemas.openxmlformats.org/drawingml/2006/main">
              <a:ext uri="{FF2B5EF4-FFF2-40B4-BE49-F238E27FC236}">
                <a16:creationId xmlns:a16="http://schemas.microsoft.com/office/drawing/2014/main" id="{350D18A1-3009-4687-801F-AFA9768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373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lue-accent">
            <a:extLst xmlns:a="http://schemas.openxmlformats.org/drawingml/2006/main">
              <a:ext uri="{FF2B5EF4-FFF2-40B4-BE49-F238E27FC236}">
                <a16:creationId xmlns:a16="http://schemas.microsoft.com/office/drawing/2014/main" id="{4A42B032-925D-4F35-A90D-3848492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FA82F5ED-88EB-4A64-A24E-FE15067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34D0B0-69C3-4550-8585-6C8672C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PROPOSED SOLUTION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1083BD-8FE6-4746-9445-86A06E2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Structure the review, preserve evidence, keep humans accountable</a:t>
            </a:r>
          </a:p>
        </p:txBody>
      </p:sp>
      <p:sp>
        <p:nvSpPr>
          <p:cNvPr id="5" name="input-one">
            <a:extLst xmlns:a="http://schemas.openxmlformats.org/drawingml/2006/main">
              <a:ext uri="{FF2B5EF4-FFF2-40B4-BE49-F238E27FC236}">
                <a16:creationId xmlns:a16="http://schemas.microsoft.com/office/drawing/2014/main" id="{0E833E2C-2A29-4126-893D-8FD5FBE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6" name="input-one-title">
            <a:extLst xmlns:a="http://schemas.openxmlformats.org/drawingml/2006/main">
              <a:ext uri="{FF2B5EF4-FFF2-40B4-BE49-F238E27FC236}">
                <a16:creationId xmlns:a16="http://schemas.microsoft.com/office/drawing/2014/main" id="{5D16C73E-7261-47C5-A70A-E794E87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Normalized SI Content</a:t>
            </a:r>
          </a:p>
        </p:txBody>
      </p:sp>
      <p:sp>
        <p:nvSpPr>
          <p:cNvPr id="7" name="plus">
            <a:extLst xmlns:a="http://schemas.openxmlformats.org/drawingml/2006/main">
              <a:ext uri="{FF2B5EF4-FFF2-40B4-BE49-F238E27FC236}">
                <a16:creationId xmlns:a16="http://schemas.microsoft.com/office/drawing/2014/main" id="{37E12764-9441-4ACE-82DE-7756C24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3EA"/>
                </a:solidFill>
              </a:defRPr>
            </a:pPr>
            <a:r>
              <a:rPr sz="3450" b="1">
                <a:solidFill>
                  <a:srgbClr val="0473EA"/>
                </a:solidFill>
              </a:rPr>
              <a:t>+</a:t>
            </a:r>
          </a:p>
        </p:txBody>
      </p:sp>
      <p:sp>
        <p:nvSpPr>
          <p:cNvPr id="8" name="input-two">
            <a:extLst xmlns:a="http://schemas.openxmlformats.org/drawingml/2006/main">
              <a:ext uri="{FF2B5EF4-FFF2-40B4-BE49-F238E27FC236}">
                <a16:creationId xmlns:a16="http://schemas.microsoft.com/office/drawing/2014/main" id="{B58D6A28-A325-4FDC-92C0-1170497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input-two-title">
            <a:extLst xmlns:a="http://schemas.openxmlformats.org/drawingml/2006/main">
              <a:ext uri="{FF2B5EF4-FFF2-40B4-BE49-F238E27FC236}">
                <a16:creationId xmlns:a16="http://schemas.microsoft.com/office/drawing/2014/main" id="{A8EEFEF5-835E-40B0-9DA4-F872120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Normalized Review</a:t>
            </a:r>
          </a:p>
          <a:p xmlns:a="http://schemas.openxmlformats.org/drawingml/2006/main">
            <a:pPr algn="ctr"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Transcript</a:t>
            </a:r>
          </a:p>
        </p:txBody>
      </p:sp>
      <p:sp>
        <p:nvSpPr>
          <p:cNvPr id="10" name="arrow-a">
            <a:extLst xmlns:a="http://schemas.openxmlformats.org/drawingml/2006/main">
              <a:ext uri="{FF2B5EF4-FFF2-40B4-BE49-F238E27FC236}">
                <a16:creationId xmlns:a16="http://schemas.microsoft.com/office/drawing/2014/main" id="{7F88CDDA-BBF8-4CC3-8DBE-36C42BA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473EA"/>
                </a:solidFill>
              </a:defRPr>
            </a:pPr>
            <a:r>
              <a:rPr sz="36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11" name="structured">
            <a:extLst xmlns:a="http://schemas.openxmlformats.org/drawingml/2006/main">
              <a:ext uri="{FF2B5EF4-FFF2-40B4-BE49-F238E27FC236}">
                <a16:creationId xmlns:a16="http://schemas.microsoft.com/office/drawing/2014/main" id="{729F4C07-AFFA-40EB-9328-9BD2B234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4095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12" name="structured-label">
            <a:extLst xmlns:a="http://schemas.openxmlformats.org/drawingml/2006/main">
              <a:ext uri="{FF2B5EF4-FFF2-40B4-BE49-F238E27FC236}">
                <a16:creationId xmlns:a16="http://schemas.microsoft.com/office/drawing/2014/main" id="{15A2EB7E-8DEB-46CF-B7B9-8BFFC3F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STRUCTURED GOVERNANCE REVIEW</a:t>
            </a:r>
          </a:p>
        </p:txBody>
      </p:sp>
      <p:sp>
        <p:nvSpPr>
          <p:cNvPr id="13" name="structured-title">
            <a:extLst xmlns:a="http://schemas.openxmlformats.org/drawingml/2006/main">
              <a:ext uri="{FF2B5EF4-FFF2-40B4-BE49-F238E27FC236}">
                <a16:creationId xmlns:a16="http://schemas.microsoft.com/office/drawing/2014/main" id="{1B07704F-0C4F-4AFF-B76F-ADE2526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Outcome · Decisions · Findings</a:t>
            </a:r>
          </a:p>
          <a:p xmlns:a="http://schemas.openxmlformats.org/drawingml/2006/main">
            <a:pPr algn="ctr"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Risks · Actions · Evidence</a:t>
            </a:r>
          </a:p>
        </p:txBody>
      </p:sp>
      <p:sp>
        <p:nvSpPr>
          <p:cNvPr id="14" name="arrow-b">
            <a:extLst xmlns:a="http://schemas.openxmlformats.org/drawingml/2006/main">
              <a:ext uri="{FF2B5EF4-FFF2-40B4-BE49-F238E27FC236}">
                <a16:creationId xmlns:a16="http://schemas.microsoft.com/office/drawing/2014/main" id="{A402E7D7-4BE7-4CE7-824C-0F8E95E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5" name="human">
            <a:extLst xmlns:a="http://schemas.openxmlformats.org/drawingml/2006/main">
              <a:ext uri="{FF2B5EF4-FFF2-40B4-BE49-F238E27FC236}">
                <a16:creationId xmlns:a16="http://schemas.microsoft.com/office/drawing/2014/main" id="{3CF602AF-CC93-47B3-BAC0-37188CA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238500"/>
            </a:solidFill>
            <a:prstDash val="solid"/>
          </a:ln>
        </p:spPr>
      </p:sp>
      <p:sp>
        <p:nvSpPr>
          <p:cNvPr id="16" name="human-label">
            <a:extLst xmlns:a="http://schemas.openxmlformats.org/drawingml/2006/main">
              <a:ext uri="{FF2B5EF4-FFF2-40B4-BE49-F238E27FC236}">
                <a16:creationId xmlns:a16="http://schemas.microsoft.com/office/drawing/2014/main" id="{F7436A3E-9177-403D-8195-F93723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8500"/>
                </a:solidFill>
              </a:defRPr>
            </a:pPr>
            <a:r>
              <a:rPr sz="1350" b="1">
                <a:solidFill>
                  <a:srgbClr val="238500"/>
                </a:solidFill>
              </a:rPr>
              <a:t>HUMAN CONTROL</a:t>
            </a:r>
          </a:p>
        </p:txBody>
      </p:sp>
      <p:sp>
        <p:nvSpPr>
          <p:cNvPr id="17" name="human-title">
            <a:extLst xmlns:a="http://schemas.openxmlformats.org/drawingml/2006/main">
              <a:ext uri="{FF2B5EF4-FFF2-40B4-BE49-F238E27FC236}">
                <a16:creationId xmlns:a16="http://schemas.microsoft.com/office/drawing/2014/main" id="{746E634A-632A-4AEA-923F-20F30CA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2672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Review</a:t>
            </a:r>
          </a:p>
          <a:p xmlns:a="http://schemas.openxmlformats.org/drawingml/2006/main">
            <a:pPr algn="ctr"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Edit</a:t>
            </a:r>
          </a:p>
          <a:p xmlns:a="http://schemas.openxmlformats.org/drawingml/2006/main">
            <a:pPr algn="ctr"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Include / Exclude</a:t>
            </a:r>
          </a:p>
        </p:txBody>
      </p:sp>
      <p:sp>
        <p:nvSpPr>
          <p:cNvPr id="18" name="arrow-c">
            <a:extLst xmlns:a="http://schemas.openxmlformats.org/drawingml/2006/main">
              <a:ext uri="{FF2B5EF4-FFF2-40B4-BE49-F238E27FC236}">
                <a16:creationId xmlns:a16="http://schemas.microsoft.com/office/drawing/2014/main" id="{87FA02B7-8B62-47C7-B820-09759B62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719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9" name="outputs">
            <a:extLst xmlns:a="http://schemas.openxmlformats.org/drawingml/2006/main">
              <a:ext uri="{FF2B5EF4-FFF2-40B4-BE49-F238E27FC236}">
                <a16:creationId xmlns:a16="http://schemas.microsoft.com/office/drawing/2014/main" id="{5C22A284-8B50-48D0-B4E4-5FA3761E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333750"/>
            <a:ext cx="2457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20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AEC6E6AE-A70A-4D7D-94AD-79E6107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7147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OUTPUTS</a:t>
            </a:r>
          </a:p>
        </p:txBody>
      </p:sp>
      <p:sp>
        <p:nvSpPr>
          <p:cNvPr id="21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FCD35FBB-65C3-459C-A228-5B7B0AD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2100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Review Record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Mock ADO Actions</a:t>
            </a:r>
          </a:p>
        </p:txBody>
      </p:sp>
      <p:sp>
        <p:nvSpPr>
          <p:cNvPr id="22" name="tag-evidence-surface">
            <a:extLst xmlns:a="http://schemas.openxmlformats.org/drawingml/2006/main">
              <a:ext uri="{FF2B5EF4-FFF2-40B4-BE49-F238E27FC236}">
                <a16:creationId xmlns:a16="http://schemas.microsoft.com/office/drawing/2014/main" id="{51981C6D-F80D-4182-ACA9-22F8D75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2390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3" name="tag-evidence">
            <a:extLst xmlns:a="http://schemas.openxmlformats.org/drawingml/2006/main">
              <a:ext uri="{FF2B5EF4-FFF2-40B4-BE49-F238E27FC236}">
                <a16:creationId xmlns:a16="http://schemas.microsoft.com/office/drawing/2014/main" id="{95A4ADD3-185C-43E0-8F57-DDE7DE4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3342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Evidence Traceability</a:t>
            </a:r>
          </a:p>
        </p:txBody>
      </p:sp>
      <p:sp>
        <p:nvSpPr>
          <p:cNvPr id="24" name="tag-structured-surface">
            <a:extLst xmlns:a="http://schemas.openxmlformats.org/drawingml/2006/main">
              <a:ext uri="{FF2B5EF4-FFF2-40B4-BE49-F238E27FC236}">
                <a16:creationId xmlns:a16="http://schemas.microsoft.com/office/drawing/2014/main" id="{0BE98439-089C-4473-90D2-C98F64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4191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5" name="tag-structured">
            <a:extLst xmlns:a="http://schemas.openxmlformats.org/drawingml/2006/main">
              <a:ext uri="{FF2B5EF4-FFF2-40B4-BE49-F238E27FC236}">
                <a16:creationId xmlns:a16="http://schemas.microsoft.com/office/drawing/2014/main" id="{58A758C1-3AA8-4161-B675-C70DA33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3342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Structured Findings and Actions</a:t>
            </a:r>
          </a:p>
        </p:txBody>
      </p:sp>
      <p:sp>
        <p:nvSpPr>
          <p:cNvPr id="26" name="tag-human-surface">
            <a:extLst xmlns:a="http://schemas.openxmlformats.org/drawingml/2006/main">
              <a:ext uri="{FF2B5EF4-FFF2-40B4-BE49-F238E27FC236}">
                <a16:creationId xmlns:a16="http://schemas.microsoft.com/office/drawing/2014/main" id="{03D99F7E-13B6-4687-A7F4-1D965B7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2390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EBFAE5"/>
            </a:solidFill>
            <a:prstDash val="solid"/>
          </a:ln>
        </p:spPr>
      </p:sp>
      <p:sp>
        <p:nvSpPr>
          <p:cNvPr id="27" name="tag-human">
            <a:extLst xmlns:a="http://schemas.openxmlformats.org/drawingml/2006/main">
              <a:ext uri="{FF2B5EF4-FFF2-40B4-BE49-F238E27FC236}">
                <a16:creationId xmlns:a16="http://schemas.microsoft.com/office/drawing/2014/main" id="{64949419-FA2C-4F70-8742-21E0CB0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3342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8500"/>
                </a:solidFill>
              </a:defRPr>
            </a:pPr>
            <a:r>
              <a:rPr sz="1425" b="1">
                <a:solidFill>
                  <a:srgbClr val="238500"/>
                </a:solidFill>
              </a:rPr>
              <a:t>Human Accountability</a:t>
            </a:r>
          </a:p>
        </p:txBody>
      </p:sp>
      <p:sp>
        <p:nvSpPr>
          <p:cNvPr id="28" name="no-auto">
            <a:extLst xmlns:a="http://schemas.openxmlformats.org/drawingml/2006/main">
              <a:ext uri="{FF2B5EF4-FFF2-40B4-BE49-F238E27FC236}">
                <a16:creationId xmlns:a16="http://schemas.microsoft.com/office/drawing/2014/main" id="{ACCF006A-E41A-4FD5-8F63-6DDD43F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62950"/>
            <a:ext cx="1653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D33"/>
                </a:solidFill>
              </a:defRPr>
            </a:pPr>
            <a:r>
              <a:rPr sz="2250" b="1">
                <a:solidFill>
                  <a:srgbClr val="061D33"/>
                </a:solidFill>
              </a:rPr>
              <a:t>NO AUTOMATIC APPROVAL</a:t>
            </a:r>
          </a:p>
        </p:txBody>
      </p:sp>
      <p:sp>
        <p:nvSpPr>
          <p:cNvPr id="29" name="footer-3">
            <a:extLst xmlns:a="http://schemas.openxmlformats.org/drawingml/2006/main">
              <a:ext uri="{FF2B5EF4-FFF2-40B4-BE49-F238E27FC236}">
                <a16:creationId xmlns:a16="http://schemas.microsoft.com/office/drawing/2014/main" id="{14D6A3C6-3C17-4CD9-96C6-47E1EE4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30" name="page-3">
            <a:extLst xmlns:a="http://schemas.openxmlformats.org/drawingml/2006/main">
              <a:ext uri="{FF2B5EF4-FFF2-40B4-BE49-F238E27FC236}">
                <a16:creationId xmlns:a16="http://schemas.microsoft.com/office/drawing/2014/main" id="{EBE1167A-0285-45F3-B2AF-D3A65D48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1179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lue-accent">
            <a:extLst xmlns:a="http://schemas.openxmlformats.org/drawingml/2006/main">
              <a:ext uri="{FF2B5EF4-FFF2-40B4-BE49-F238E27FC236}">
                <a16:creationId xmlns:a16="http://schemas.microsoft.com/office/drawing/2014/main" id="{05D229D3-7CEA-4815-A202-D0CF476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66B1AA66-0D54-4D79-AA50-3E482C2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5345342-B62A-467F-8F02-70C7A4B7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IMPLEMENTED NOW VS FUTURE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9676ED-56E6-4120-B302-192B951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small provider boundary keeps the reliable demo replaceable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FE72606-0CAE-4B26-B70D-FB289CD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8D5"/>
                </a:solidFill>
              </a:defRPr>
            </a:pPr>
            <a:r>
              <a:rPr sz="1725" b="0">
                <a:solidFill>
                  <a:srgbClr val="B9C8D5"/>
                </a:solidFill>
              </a:rPr>
              <a:t>Future components remain explicitly unimplemented.</a:t>
            </a:r>
          </a:p>
        </p:txBody>
      </p:sp>
      <p:sp>
        <p:nvSpPr>
          <p:cNvPr id="6" name="extractor">
            <a:extLst xmlns:a="http://schemas.openxmlformats.org/drawingml/2006/main">
              <a:ext uri="{FF2B5EF4-FFF2-40B4-BE49-F238E27FC236}">
                <a16:creationId xmlns:a16="http://schemas.microsoft.com/office/drawing/2014/main" id="{35A78F7E-D1FB-460B-8F7D-634B1B30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5334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extractor-text">
            <a:extLst xmlns:a="http://schemas.openxmlformats.org/drawingml/2006/main">
              <a:ext uri="{FF2B5EF4-FFF2-40B4-BE49-F238E27FC236}">
                <a16:creationId xmlns:a16="http://schemas.microsoft.com/office/drawing/2014/main" id="{14F6CB67-3A89-4916-B261-8169E459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61D33"/>
                </a:solidFill>
              </a:defRPr>
            </a:pPr>
            <a:r>
              <a:rPr sz="2400" b="1">
                <a:solidFill>
                  <a:srgbClr val="061D33"/>
                </a:solidFill>
              </a:rPr>
              <a:t>GovernanceExtractor</a:t>
            </a:r>
          </a:p>
        </p:txBody>
      </p:sp>
      <p:sp>
        <p:nvSpPr>
          <p:cNvPr id="8" name="implemented">
            <a:extLst xmlns:a="http://schemas.openxmlformats.org/drawingml/2006/main">
              <a:ext uri="{FF2B5EF4-FFF2-40B4-BE49-F238E27FC236}">
                <a16:creationId xmlns:a16="http://schemas.microsoft.com/office/drawing/2014/main" id="{0C7D723E-2211-471E-B2D7-AD11C62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619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9" name="implemented-label">
            <a:extLst xmlns:a="http://schemas.openxmlformats.org/drawingml/2006/main">
              <a:ext uri="{FF2B5EF4-FFF2-40B4-BE49-F238E27FC236}">
                <a16:creationId xmlns:a16="http://schemas.microsoft.com/office/drawing/2014/main" id="{714C9F78-7FDB-4BBB-9605-0D105EC7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 NOW</a:t>
            </a:r>
          </a:p>
        </p:txBody>
      </p:sp>
      <p:sp>
        <p:nvSpPr>
          <p:cNvPr id="10" name="implemented-title">
            <a:extLst xmlns:a="http://schemas.openxmlformats.org/drawingml/2006/main">
              <a:ext uri="{FF2B5EF4-FFF2-40B4-BE49-F238E27FC236}">
                <a16:creationId xmlns:a16="http://schemas.microsoft.com/office/drawing/2014/main" id="{F54F1528-3B0B-436D-9812-1DC4F69E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388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DeterministicDemoExtractor</a:t>
            </a:r>
          </a:p>
        </p:txBody>
      </p:sp>
      <p:sp>
        <p:nvSpPr>
          <p:cNvPr id="11" name="implemented-note">
            <a:extLst xmlns:a="http://schemas.openxmlformats.org/drawingml/2006/main">
              <a:ext uri="{FF2B5EF4-FFF2-40B4-BE49-F238E27FC236}">
                <a16:creationId xmlns:a16="http://schemas.microsoft.com/office/drawing/2014/main" id="{08AE66BB-F856-46D8-B558-6FD9777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CFF"/>
                </a:solidFill>
              </a:defRPr>
            </a:pPr>
            <a:r>
              <a:rPr sz="1500" b="0">
                <a:solidFill>
                  <a:srgbClr val="D8ECFF"/>
                </a:solidFill>
              </a:rPr>
              <a:t>Reliable · offline · frozen synthetic scenario</a:t>
            </a:r>
          </a:p>
        </p:txBody>
      </p:sp>
      <p:sp>
        <p:nvSpPr>
          <p:cNvPr id="12" name="future">
            <a:extLst xmlns:a="http://schemas.openxmlformats.org/drawingml/2006/main">
              <a:ext uri="{FF2B5EF4-FFF2-40B4-BE49-F238E27FC236}">
                <a16:creationId xmlns:a16="http://schemas.microsoft.com/office/drawing/2014/main" id="{B51534AC-979D-4215-A246-DD94DAE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86300"/>
            <a:ext cx="619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2E4A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905375" y="3733800"/>
            <a:ext cx="4238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47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144000" y="3733800"/>
            <a:ext cx="4238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8D200"/>
            </a:solidFill>
            <a:prstDash val="dash"/>
          </a:ln>
        </p:spPr>
      </p:cxnSp>
      <p:sp>
        <p:nvSpPr>
          <p:cNvPr id="15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14449628-18F0-4D23-902E-2C94B722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29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FUTURE — NOT IMPLEMENTED</a:t>
            </a:r>
          </a:p>
        </p:txBody>
      </p:sp>
      <p:sp>
        <p:nvSpPr>
          <p:cNvPr id="16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177B3FFB-BAF9-4D89-AA07-7DEE1408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388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EnterpriseLlmExtractor</a:t>
            </a:r>
          </a:p>
        </p:txBody>
      </p:sp>
      <p:sp>
        <p:nvSpPr>
          <p:cNvPr id="17" name="future-note">
            <a:extLst xmlns:a="http://schemas.openxmlformats.org/drawingml/2006/main">
              <a:ext uri="{FF2B5EF4-FFF2-40B4-BE49-F238E27FC236}">
                <a16:creationId xmlns:a16="http://schemas.microsoft.com/office/drawing/2014/main" id="{1189122F-5A60-4C46-B27B-69DDC94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293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8E4"/>
                </a:solidFill>
              </a:defRPr>
            </a:pPr>
            <a:r>
              <a:rPr sz="1500" b="0">
                <a:solidFill>
                  <a:srgbClr val="C7D8E4"/>
                </a:solidFill>
              </a:rPr>
              <a:t>Approved enterprise LLM provider</a:t>
            </a:r>
          </a:p>
        </p:txBody>
      </p:sp>
      <p:sp>
        <p:nvSpPr>
          <p:cNvPr id="18" name="integrations-label">
            <a:extLst xmlns:a="http://schemas.openxmlformats.org/drawingml/2006/main">
              <a:ext uri="{FF2B5EF4-FFF2-40B4-BE49-F238E27FC236}">
                <a16:creationId xmlns:a16="http://schemas.microsoft.com/office/drawing/2014/main" id="{72201284-CE8B-44CC-94C3-F1F162B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58100"/>
            <a:ext cx="1653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D200"/>
                </a:solidFill>
              </a:defRPr>
            </a:pPr>
            <a:r>
              <a:rPr sz="1500" b="1">
                <a:solidFill>
                  <a:srgbClr val="38D200"/>
                </a:solidFill>
              </a:rPr>
              <a:t>FUTURE APPROVED INTEGRATIONS — NOT IMPLEMENTED</a:t>
            </a:r>
          </a:p>
        </p:txBody>
      </p:sp>
      <p:sp>
        <p:nvSpPr>
          <p:cNvPr id="19" name="confluence-surface">
            <a:extLst xmlns:a="http://schemas.openxmlformats.org/drawingml/2006/main">
              <a:ext uri="{FF2B5EF4-FFF2-40B4-BE49-F238E27FC236}">
                <a16:creationId xmlns:a16="http://schemas.microsoft.com/office/drawing/2014/main" id="{84CE34DA-8E08-4344-BD95-56B66AE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2867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3B59"/>
          </a:solidFill>
          <a:ln xmlns:a="http://schemas.openxmlformats.org/drawingml/2006/main" w="9525">
            <a:solidFill>
              <a:srgbClr val="113B59"/>
            </a:solidFill>
            <a:prstDash val="solid"/>
          </a:ln>
        </p:spPr>
      </p:sp>
      <p:sp>
        <p:nvSpPr>
          <p:cNvPr id="20" name="confluence">
            <a:extLst xmlns:a="http://schemas.openxmlformats.org/drawingml/2006/main">
              <a:ext uri="{FF2B5EF4-FFF2-40B4-BE49-F238E27FC236}">
                <a16:creationId xmlns:a16="http://schemas.microsoft.com/office/drawing/2014/main" id="{B4473FEA-1883-494A-91AC-6642C168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382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Confluence</a:t>
            </a:r>
          </a:p>
        </p:txBody>
      </p:sp>
      <p:sp>
        <p:nvSpPr>
          <p:cNvPr id="21" name="teams-surface">
            <a:extLst xmlns:a="http://schemas.openxmlformats.org/drawingml/2006/main">
              <a:ext uri="{FF2B5EF4-FFF2-40B4-BE49-F238E27FC236}">
                <a16:creationId xmlns:a16="http://schemas.microsoft.com/office/drawing/2014/main" id="{D18ECD68-267D-4462-BFB1-B8C3439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2867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3B59"/>
          </a:solidFill>
          <a:ln xmlns:a="http://schemas.openxmlformats.org/drawingml/2006/main" w="9525">
            <a:solidFill>
              <a:srgbClr val="113B59"/>
            </a:solidFill>
            <a:prstDash val="solid"/>
          </a:ln>
        </p:spPr>
      </p:sp>
      <p:sp>
        <p:nvSpPr>
          <p:cNvPr id="22" name="teams">
            <a:extLst xmlns:a="http://schemas.openxmlformats.org/drawingml/2006/main">
              <a:ext uri="{FF2B5EF4-FFF2-40B4-BE49-F238E27FC236}">
                <a16:creationId xmlns:a16="http://schemas.microsoft.com/office/drawing/2014/main" id="{F66A348E-FFFA-4F9C-AAAC-69ED0EA9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8382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Microsoft Teams</a:t>
            </a:r>
          </a:p>
        </p:txBody>
      </p:sp>
      <p:sp>
        <p:nvSpPr>
          <p:cNvPr id="23" name="ado-surface">
            <a:extLst xmlns:a="http://schemas.openxmlformats.org/drawingml/2006/main">
              <a:ext uri="{FF2B5EF4-FFF2-40B4-BE49-F238E27FC236}">
                <a16:creationId xmlns:a16="http://schemas.microsoft.com/office/drawing/2014/main" id="{7F31E70F-50C8-47C8-AB28-68F38A04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2867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3B59"/>
          </a:solidFill>
          <a:ln xmlns:a="http://schemas.openxmlformats.org/drawingml/2006/main" w="9525">
            <a:solidFill>
              <a:srgbClr val="113B59"/>
            </a:solidFill>
            <a:prstDash val="solid"/>
          </a:ln>
        </p:spPr>
      </p:sp>
      <p:sp>
        <p:nvSpPr>
          <p:cNvPr id="24" name="ado">
            <a:extLst xmlns:a="http://schemas.openxmlformats.org/drawingml/2006/main">
              <a:ext uri="{FF2B5EF4-FFF2-40B4-BE49-F238E27FC236}">
                <a16:creationId xmlns:a16="http://schemas.microsoft.com/office/drawing/2014/main" id="{16C97391-B1CF-495F-8CDB-C2D1AB2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8382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Azure DevOps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22152D19-0C3E-4929-BC52-F2D74F7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C8D5"/>
                </a:solidFill>
              </a:defRPr>
            </a:pPr>
            <a:r>
              <a:rPr sz="1275" b="1">
                <a:solidFill>
                  <a:srgbClr val="B9C8D5"/>
                </a:solidFill>
              </a:rPr>
              <a:t>ARCHITECTURE GOVERNANCE COPILOT  ·  ACCELERATE 3.0</a:t>
            </a:r>
          </a:p>
        </p:txBody>
      </p: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6619BCDB-2AF7-4BE9-A9CB-3D3EF76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9C8D5"/>
                </a:solidFill>
              </a:defRPr>
            </a:pPr>
            <a:r>
              <a:rPr sz="1350" b="1">
                <a:solidFill>
                  <a:srgbClr val="B9C8D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6065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lue-accent">
            <a:extLst xmlns:a="http://schemas.openxmlformats.org/drawingml/2006/main">
              <a:ext uri="{FF2B5EF4-FFF2-40B4-BE49-F238E27FC236}">
                <a16:creationId xmlns:a16="http://schemas.microsoft.com/office/drawing/2014/main" id="{D1D709D7-886E-4F53-BA7A-DE6A3E8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B677EC64-AD34-4700-8B63-2EA9725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panel">
            <a:extLst xmlns:a="http://schemas.openxmlformats.org/drawingml/2006/main">
              <a:ext uri="{FF2B5EF4-FFF2-40B4-BE49-F238E27FC236}">
                <a16:creationId xmlns:a16="http://schemas.microsoft.com/office/drawing/2014/main" id="{2BFB29B1-E517-4D2D-89D3-4B03A12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BBE7AD6A-8333-4728-8B3B-F138C48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4A6CD743-A126-4E82-B07B-EF12C26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Architecture Governance Copilot</a:t>
            </a:r>
          </a:p>
        </p:txBody>
      </p:sp>
      <p:sp>
        <p:nvSpPr>
          <p:cNvPr id="6" name="message">
            <a:extLst xmlns:a="http://schemas.openxmlformats.org/drawingml/2006/main">
              <a:ext uri="{FF2B5EF4-FFF2-40B4-BE49-F238E27FC236}">
                <a16:creationId xmlns:a16="http://schemas.microsoft.com/office/drawing/2014/main" id="{378F4802-8FE6-41C7-B14E-20FA850E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Evidence-backed review. Human accountability.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484378D-A926-4222-88C2-DE21B3A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3E3CB8EB-793B-4551-9F4F-0B1146F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9" name="lead">
            <a:extLst xmlns:a="http://schemas.openxmlformats.org/drawingml/2006/main">
              <a:ext uri="{FF2B5EF4-FFF2-40B4-BE49-F238E27FC236}">
                <a16:creationId xmlns:a16="http://schemas.microsoft.com/office/drawing/2014/main" id="{DCF92647-DE14-4E5E-A476-22C0D34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0" name="member">
            <a:extLst xmlns:a="http://schemas.openxmlformats.org/drawingml/2006/main">
              <a:ext uri="{FF2B5EF4-FFF2-40B4-BE49-F238E27FC236}">
                <a16:creationId xmlns:a16="http://schemas.microsoft.com/office/drawing/2014/main" id="{4AECB87B-44F3-4896-BF93-51B3D63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57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1" name="hackathon">
            <a:extLst xmlns:a="http://schemas.openxmlformats.org/drawingml/2006/main">
              <a:ext uri="{FF2B5EF4-FFF2-40B4-BE49-F238E27FC236}">
                <a16:creationId xmlns:a16="http://schemas.microsoft.com/office/drawing/2014/main" id="{6704122E-7836-49D8-BABE-9F2E81FB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734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D200"/>
                </a:solidFill>
              </a:defRPr>
            </a:pPr>
            <a:r>
              <a:rPr sz="1575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12" name="disclaimer">
            <a:extLst xmlns:a="http://schemas.openxmlformats.org/drawingml/2006/main">
              <a:ext uri="{FF2B5EF4-FFF2-40B4-BE49-F238E27FC236}">
                <a16:creationId xmlns:a16="http://schemas.microsoft.com/office/drawing/2014/main" id="{687FA93A-B54A-44F2-ADCB-E2C0569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72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Synthetic data · Hackathon 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47781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2026-07-19T06:45:16.5860000Z</dcterms:created>
  <dcterms:modified xsi:type="dcterms:W3CDTF">2026-07-19T06:45:16.5860000Z</dcterms:modified>
</coreProperties>
</file>
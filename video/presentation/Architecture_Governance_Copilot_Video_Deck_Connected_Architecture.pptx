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5ee160bbf54ae7" /><Relationship Type="http://schemas.openxmlformats.org/officeDocument/2006/relationships/extended-properties" Target="/docProps/app.xml" Id="R026a7af973da4c85" /><Relationship Type="http://schemas.openxmlformats.org/officeDocument/2006/relationships/officeDocument" Target="/ppt/presentation.xml" Id="Rf59f33f32c8f4e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a247e408a44d5"/>
  </p:sldMasterIdLst>
  <p:notesMasterIdLst>
    <p:notesMasterId xmlns:r="http://schemas.openxmlformats.org/officeDocument/2006/relationships" r:id="R3fcdb37c8f9f4579"/>
  </p:notesMasterIdLst>
  <p:sldIdLst>
    <p:sldId xmlns:r="http://schemas.openxmlformats.org/officeDocument/2006/relationships" id="256" r:id="R5397381f7aef468f"/>
    <p:sldId xmlns:r="http://schemas.openxmlformats.org/officeDocument/2006/relationships" id="257" r:id="Ra6b7335424b64a83"/>
    <p:sldId xmlns:r="http://schemas.openxmlformats.org/officeDocument/2006/relationships" id="258" r:id="R263477a4782945a3"/>
    <p:sldId xmlns:r="http://schemas.openxmlformats.org/officeDocument/2006/relationships" id="259" r:id="Rcbca5527f3c74245"/>
    <p:sldId xmlns:r="http://schemas.openxmlformats.org/officeDocument/2006/relationships" id="260" r:id="R7590469ede6b4f2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1725301cc49cd" /><Relationship Type="http://schemas.openxmlformats.org/officeDocument/2006/relationships/slideMaster" Target="/ppt/slideMasters/slideMaster1.xml" Id="Rb79a247e408a44d5" /><Relationship Type="http://schemas.openxmlformats.org/officeDocument/2006/relationships/notesMaster" Target="/ppt/notesMasters/notesMaster1.xml" Id="R3fcdb37c8f9f4579" /><Relationship Type="http://schemas.openxmlformats.org/officeDocument/2006/relationships/presProps" Target="/ppt/presProps.xml" Id="Rfdf6fa9d81234d26" /><Relationship Type="http://schemas.openxmlformats.org/officeDocument/2006/relationships/tableStyles" Target="/ppt/tableStyles.xml" Id="R255c74ef495f4024" /><Relationship Type="http://schemas.openxmlformats.org/officeDocument/2006/relationships/slide" Target="/ppt/slides/slide1.xml" Id="R5397381f7aef468f" /><Relationship Type="http://schemas.openxmlformats.org/officeDocument/2006/relationships/slide" Target="/ppt/slides/slide2.xml" Id="Ra6b7335424b64a83" /><Relationship Type="http://schemas.openxmlformats.org/officeDocument/2006/relationships/slide" Target="/ppt/slides/slide3.xml" Id="R263477a4782945a3" /><Relationship Type="http://schemas.openxmlformats.org/officeDocument/2006/relationships/slide" Target="/ppt/slides/slide4.xml" Id="Rcbca5527f3c74245" /><Relationship Type="http://schemas.openxmlformats.org/officeDocument/2006/relationships/slide" Target="/ppt/slides/slide5.xml" Id="R7590469ede6b4f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3923d6d38947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7085e63f724563" /><Relationship Type="http://schemas.openxmlformats.org/officeDocument/2006/relationships/notesMaster" Target="/ppt/notesMasters/notesMaster1.xml" Id="R16b26075c47442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ceadabda114754" /><Relationship Type="http://schemas.openxmlformats.org/officeDocument/2006/relationships/notesMaster" Target="/ppt/notesMasters/notesMaster1.xml" Id="R5cad17a2f7a849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264340c6a64078" /><Relationship Type="http://schemas.openxmlformats.org/officeDocument/2006/relationships/notesMaster" Target="/ppt/notesMasters/notesMaster1.xml" Id="R1b7dde34fa6340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7b2aa47efd499c" /><Relationship Type="http://schemas.openxmlformats.org/officeDocument/2006/relationships/notesMaster" Target="/ppt/notesMasters/notesMaster1.xml" Id="Ra8061caa8f7e4c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b2993a949148cf" /><Relationship Type="http://schemas.openxmlformats.org/officeDocument/2006/relationships/notesMaster" Target="/ppt/notesMasters/notesMaster1.xml" Id="Rec1ce23481ec41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029ff75d74a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216e30bb6f42a6" /><Relationship Type="http://schemas.openxmlformats.org/officeDocument/2006/relationships/slideLayout" Target="/ppt/slideLayouts/slideLayout1.xml" Id="R2774b6157d6540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74b6157d6540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24207fba94677" /><Relationship Type="http://schemas.openxmlformats.org/officeDocument/2006/relationships/image" Target="/ppt/media/image.png" Id="Rc842d0feb28a496c" /><Relationship Type="http://schemas.openxmlformats.org/officeDocument/2006/relationships/notesSlide" Target="/ppt/notesSlides/notesSlide1.xml" Id="Rb48fc521d25b41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c0b701e964170" /><Relationship Type="http://schemas.openxmlformats.org/officeDocument/2006/relationships/notesSlide" Target="/ppt/notesSlides/notesSlide2.xml" Id="R1dbe251f93784f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385d421384cc4" /><Relationship Type="http://schemas.openxmlformats.org/officeDocument/2006/relationships/notesSlide" Target="/ppt/notesSlides/notesSlide3.xml" Id="R955b0195e29647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80ff779884e6e" /><Relationship Type="http://schemas.openxmlformats.org/officeDocument/2006/relationships/image" Target="/ppt/media/image2.png" Id="R0cf2b78468664c12" /><Relationship Type="http://schemas.openxmlformats.org/officeDocument/2006/relationships/notesSlide" Target="/ppt/notesSlides/notesSlide4.xml" Id="R4cfd1017080b4a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10104f9064e4f" /><Relationship Type="http://schemas.openxmlformats.org/officeDocument/2006/relationships/image" Target="/ppt/media/image3.png" Id="R22a12574f7894a7e" /><Relationship Type="http://schemas.openxmlformats.org/officeDocument/2006/relationships/notesSlide" Target="/ppt/notesSlides/notesSlide5.xml" Id="R2b90592db8d549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lue-accent">
            <a:extLst xmlns:a="http://schemas.openxmlformats.org/drawingml/2006/main">
              <a:ext uri="{FF2B5EF4-FFF2-40B4-BE49-F238E27FC236}">
                <a16:creationId xmlns:a16="http://schemas.microsoft.com/office/drawing/2014/main" id="{3E95DDE8-7CF3-4256-AFD0-DFE21CEB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7A91F8C1-59A1-4C5A-9C09-DC24811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blue-block">
            <a:extLst xmlns:a="http://schemas.openxmlformats.org/drawingml/2006/main">
              <a:ext uri="{FF2B5EF4-FFF2-40B4-BE49-F238E27FC236}">
                <a16:creationId xmlns:a16="http://schemas.microsoft.com/office/drawing/2014/main" id="{38C49EE4-F0DD-4D45-B4C4-E7DB93CC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0"/>
            <a:ext cx="4762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2C4A"/>
          </a:solidFill>
          <a:ln xmlns:a="http://schemas.openxmlformats.org/drawingml/2006/main" w="9525">
            <a:solidFill>
              <a:srgbClr val="072C4A"/>
            </a:solidFill>
            <a:prstDash val="solid"/>
          </a:ln>
        </p:spPr>
      </p:sp>
      <p:sp>
        <p:nvSpPr>
          <p:cNvPr id="4" name="green-edge">
            <a:extLst xmlns:a="http://schemas.openxmlformats.org/drawingml/2006/main">
              <a:ext uri="{FF2B5EF4-FFF2-40B4-BE49-F238E27FC236}">
                <a16:creationId xmlns:a16="http://schemas.microsoft.com/office/drawing/2014/main" id="{E521448B-9849-4F9F-8A36-50AACD3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0" y="0"/>
            <a:ext cx="381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5" name="agc-mark">
            <a:extLst xmlns:a="http://schemas.openxmlformats.org/drawingml/2006/main">
              <a:ext uri="{FF2B5EF4-FFF2-40B4-BE49-F238E27FC236}">
                <a16:creationId xmlns:a16="http://schemas.microsoft.com/office/drawing/2014/main" id="{B1A16CC8-731E-4B28-894E-3843CEFC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630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6" name="agc-mark-text">
            <a:extLst xmlns:a="http://schemas.openxmlformats.org/drawingml/2006/main">
              <a:ext uri="{FF2B5EF4-FFF2-40B4-BE49-F238E27FC236}">
                <a16:creationId xmlns:a16="http://schemas.microsoft.com/office/drawing/2014/main" id="{B0884FBA-1F42-49EC-9735-F79EBBC4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123950"/>
            <a:ext cx="704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AGC</a:t>
            </a:r>
          </a:p>
        </p:txBody>
      </p:sp>
      <p:sp>
        <p:nvSpPr>
          <p:cNvPr id="7" name="hackathon">
            <a:extLst xmlns:a="http://schemas.openxmlformats.org/drawingml/2006/main">
              <a:ext uri="{FF2B5EF4-FFF2-40B4-BE49-F238E27FC236}">
                <a16:creationId xmlns:a16="http://schemas.microsoft.com/office/drawing/2014/main" id="{887070AB-5AAC-4F9D-8D9C-BFD8BBBA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8D200"/>
                </a:solidFill>
              </a:defRPr>
            </a:pPr>
            <a:r>
              <a:rPr sz="1650" b="1">
                <a:solidFill>
                  <a:srgbClr val="38D200"/>
                </a:solidFill>
              </a:rPr>
              <a:t>ACCELERATE 3.0 HACKATHON</a:t>
            </a:r>
          </a:p>
        </p:txBody>
      </p:sp>
      <p:sp>
        <p:nvSpPr>
          <p:cNvPr id="8" name="project">
            <a:extLst xmlns:a="http://schemas.openxmlformats.org/drawingml/2006/main">
              <a:ext uri="{FF2B5EF4-FFF2-40B4-BE49-F238E27FC236}">
                <a16:creationId xmlns:a16="http://schemas.microsoft.com/office/drawing/2014/main" id="{E845C00C-D5A8-409B-B5CE-0019DBD6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123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Architecture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Governance Copilot</a:t>
            </a:r>
          </a:p>
        </p:txBody>
      </p:sp>
      <p:sp>
        <p:nvSpPr>
          <p:cNvPr id="9" name="message">
            <a:extLst xmlns:a="http://schemas.openxmlformats.org/drawingml/2006/main">
              <a:ext uri="{FF2B5EF4-FFF2-40B4-BE49-F238E27FC236}">
                <a16:creationId xmlns:a16="http://schemas.microsoft.com/office/drawing/2014/main" id="{760D262C-C273-4141-AAE5-AC03106E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C6D7E4"/>
                </a:solidFill>
              </a:defRPr>
            </a:pPr>
            <a:r>
              <a:rPr sz="2250" b="0">
                <a:solidFill>
                  <a:srgbClr val="C6D7E4"/>
                </a:solidFill>
              </a:rPr>
              <a:t>Traceable evidence. Human-controlled decisions.</a:t>
            </a:r>
          </a:p>
        </p:txBody>
      </p:sp>
      <p:sp>
        <p:nvSpPr>
          <p:cNvPr id="10" name="team">
            <a:extLst xmlns:a="http://schemas.openxmlformats.org/drawingml/2006/main">
              <a:ext uri="{FF2B5EF4-FFF2-40B4-BE49-F238E27FC236}">
                <a16:creationId xmlns:a16="http://schemas.microsoft.com/office/drawing/2014/main" id="{B958368D-0B13-43B0-B7B1-74249054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675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Two Tokens One Brain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B112395F-788F-4AD1-B381-2A684F7C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7E3EC"/>
                </a:solidFill>
              </a:defRPr>
            </a:pPr>
            <a:r>
              <a:rPr sz="2025" b="0">
                <a:solidFill>
                  <a:srgbClr val="D7E3EC"/>
                </a:solidFill>
              </a:rPr>
              <a:t>Zhang1, Yang — Team Lead</a:t>
            </a:r>
          </a:p>
        </p:txBody>
      </p:sp>
      <p:sp>
        <p:nvSpPr>
          <p:cNvPr id="12" name="member">
            <a:extLst xmlns:a="http://schemas.openxmlformats.org/drawingml/2006/main">
              <a:ext uri="{FF2B5EF4-FFF2-40B4-BE49-F238E27FC236}">
                <a16:creationId xmlns:a16="http://schemas.microsoft.com/office/drawing/2014/main" id="{63744548-5932-4DEF-A3D7-29D6EE19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905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D7E3EC"/>
                </a:solidFill>
              </a:defRPr>
            </a:pPr>
            <a:r>
              <a:rPr sz="2025" b="0">
                <a:solidFill>
                  <a:srgbClr val="D7E3EC"/>
                </a:solidFill>
              </a:rPr>
              <a:t>Wang, Ted — Team Member</a:t>
            </a:r>
          </a:p>
        </p:txBody>
      </p:sp>
      <p:sp>
        <p:nvSpPr>
          <p:cNvPr id="13" name="neutral-note">
            <a:extLst xmlns:a="http://schemas.openxmlformats.org/drawingml/2006/main">
              <a:ext uri="{FF2B5EF4-FFF2-40B4-BE49-F238E27FC236}">
                <a16:creationId xmlns:a16="http://schemas.microsoft.com/office/drawing/2014/main" id="{D64D36C5-AA92-4544-9174-48551772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9916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FA8BA"/>
                </a:solidFill>
              </a:defRPr>
            </a:pPr>
            <a:r>
              <a:rPr sz="1350" b="0">
                <a:solidFill>
                  <a:srgbClr val="8FA8BA"/>
                </a:solidFill>
              </a:rPr>
              <a:t>Internal hackathon proof of concept</a:t>
            </a:r>
          </a:p>
        </p:txBody>
      </p:sp>
      <p:sp>
        <p:nvSpPr>
          <p:cNvPr id="15" name="standard-chartered-logo-surface">
            <a:extLst xmlns:a="http://schemas.openxmlformats.org/drawingml/2006/main">
              <a:ext uri="{FF2B5EF4-FFF2-40B4-BE49-F238E27FC236}">
                <a16:creationId xmlns:a16="http://schemas.microsoft.com/office/drawing/2014/main" id="{C7F609D5-218C-4718-B971-6A78C5F7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047750"/>
            <a:ext cx="37147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2d0feb28a496c"/>
          <a:stretch xmlns:a="http://schemas.openxmlformats.org/drawingml/2006/main"/>
        </p:blipFill>
        <p:spPr>
          <a:xfrm xmlns:a="http://schemas.openxmlformats.org/drawingml/2006/main">
            <a:off x="13239750" y="1049179"/>
            <a:ext cx="3714750" cy="15973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blue-accent">
            <a:extLst xmlns:a="http://schemas.openxmlformats.org/drawingml/2006/main">
              <a:ext uri="{FF2B5EF4-FFF2-40B4-BE49-F238E27FC236}">
                <a16:creationId xmlns:a16="http://schemas.microsoft.com/office/drawing/2014/main" id="{64CED6D8-0152-47BC-A3BC-72CCCD5A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56BA0A90-D060-444D-994C-BCA1DEC0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1BB1C94-7493-4230-A357-4C0A59EA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473EA"/>
                </a:solidFill>
              </a:defRPr>
            </a:pPr>
            <a:r>
              <a:rPr sz="1350" b="1">
                <a:solidFill>
                  <a:srgbClr val="0473EA"/>
                </a:solidFill>
              </a:rPr>
              <a:t>CURRENT GOVERNANCE PROCESS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71F389-E082-444E-84D9-3FC2FAD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533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61D33"/>
                </a:solidFill>
              </a:defRPr>
            </a:pPr>
            <a:r>
              <a:rPr sz="3450" b="1">
                <a:solidFill>
                  <a:srgbClr val="061D33"/>
                </a:solidFill>
              </a:rPr>
              <a:t>Architecture review spans documents, meetings, and tracked work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9C7D844-38E5-4B9D-B380-2EAFFF6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524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27D"/>
                </a:solidFill>
              </a:defRPr>
            </a:pPr>
            <a:r>
              <a:rPr sz="1725" b="0">
                <a:solidFill>
                  <a:srgbClr val="66727D"/>
                </a:solidFill>
              </a:rPr>
              <a:t>The Domain Architect remains the formal decision authority across review rounds.</a:t>
            </a:r>
          </a:p>
        </p:txBody>
      </p:sp>
      <p:sp>
        <p:nvSpPr>
          <p:cNvPr id="6" name="process-1">
            <a:extLst xmlns:a="http://schemas.openxmlformats.org/drawingml/2006/main">
              <a:ext uri="{FF2B5EF4-FFF2-40B4-BE49-F238E27FC236}">
                <a16:creationId xmlns:a16="http://schemas.microsoft.com/office/drawing/2014/main" id="{5C80FEE9-DCCA-45F6-B641-DA161361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A8434CAC-D3A6-4E5B-A8F1-8154C484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ber-text-1">
            <a:extLst xmlns:a="http://schemas.openxmlformats.org/drawingml/2006/main">
              <a:ext uri="{FF2B5EF4-FFF2-40B4-BE49-F238E27FC236}">
                <a16:creationId xmlns:a16="http://schemas.microsoft.com/office/drawing/2014/main" id="{EBA69515-FB5E-4BD0-B2DA-31B83F7B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D52F4CA7-5FB3-4717-8723-9241D658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Project Team</a:t>
            </a:r>
          </a:p>
        </p:txBody>
      </p:sp>
      <p:sp>
        <p:nvSpPr>
          <p:cNvPr id="10" name="process-detail-1">
            <a:extLst xmlns:a="http://schemas.openxmlformats.org/drawingml/2006/main">
              <a:ext uri="{FF2B5EF4-FFF2-40B4-BE49-F238E27FC236}">
                <a16:creationId xmlns:a16="http://schemas.microsoft.com/office/drawing/2014/main" id="{2D060851-97E6-4DD0-AA71-B4C2E3B5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480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Prepare the SI using the required template</a:t>
            </a:r>
          </a:p>
        </p:txBody>
      </p:sp>
      <p:sp>
        <p:nvSpPr>
          <p:cNvPr id="11" name="process-2">
            <a:extLst xmlns:a="http://schemas.openxmlformats.org/drawingml/2006/main">
              <a:ext uri="{FF2B5EF4-FFF2-40B4-BE49-F238E27FC236}">
                <a16:creationId xmlns:a16="http://schemas.microsoft.com/office/drawing/2014/main" id="{5312B195-E88B-444F-9021-A379FAD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2" name="number-2">
            <a:extLst xmlns:a="http://schemas.openxmlformats.org/drawingml/2006/main">
              <a:ext uri="{FF2B5EF4-FFF2-40B4-BE49-F238E27FC236}">
                <a16:creationId xmlns:a16="http://schemas.microsoft.com/office/drawing/2014/main" id="{478C62AA-15EA-40CA-9D59-8293E1E2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umber-text-2">
            <a:extLst xmlns:a="http://schemas.openxmlformats.org/drawingml/2006/main">
              <a:ext uri="{FF2B5EF4-FFF2-40B4-BE49-F238E27FC236}">
                <a16:creationId xmlns:a16="http://schemas.microsoft.com/office/drawing/2014/main" id="{76D5740C-BE58-4026-A97B-ECAFAFE9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86F35F58-A493-48A6-8A8B-919F821D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Solution Intent in Confluence</a:t>
            </a:r>
          </a:p>
        </p:txBody>
      </p:sp>
      <p:sp>
        <p:nvSpPr>
          <p:cNvPr id="15" name="process-detail-2">
            <a:extLst xmlns:a="http://schemas.openxmlformats.org/drawingml/2006/main">
              <a:ext uri="{FF2B5EF4-FFF2-40B4-BE49-F238E27FC236}">
                <a16:creationId xmlns:a16="http://schemas.microsoft.com/office/drawing/2014/main" id="{83FA0426-9209-48BD-9BA9-64D28FB8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Official document and design baseline</a:t>
            </a:r>
          </a:p>
        </p:txBody>
      </p:sp>
      <p:sp>
        <p:nvSpPr>
          <p:cNvPr id="16" name="process-3">
            <a:extLst xmlns:a="http://schemas.openxmlformats.org/drawingml/2006/main">
              <a:ext uri="{FF2B5EF4-FFF2-40B4-BE49-F238E27FC236}">
                <a16:creationId xmlns:a16="http://schemas.microsoft.com/office/drawing/2014/main" id="{40633B00-0B52-44E7-A85E-8DCC48C6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241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7" name="number-3">
            <a:extLst xmlns:a="http://schemas.openxmlformats.org/drawingml/2006/main">
              <a:ext uri="{FF2B5EF4-FFF2-40B4-BE49-F238E27FC236}">
                <a16:creationId xmlns:a16="http://schemas.microsoft.com/office/drawing/2014/main" id="{175B4D4F-0B15-4B0A-AB31-62ACA7D5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9527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ber-text-3">
            <a:extLst xmlns:a="http://schemas.openxmlformats.org/drawingml/2006/main">
              <a:ext uri="{FF2B5EF4-FFF2-40B4-BE49-F238E27FC236}">
                <a16:creationId xmlns:a16="http://schemas.microsoft.com/office/drawing/2014/main" id="{7C4E7774-5823-4B63-9D94-ECE02465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0670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57273125-EBB5-4261-9273-61F814C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9527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Domain Review in Teams</a:t>
            </a:r>
          </a:p>
        </p:txBody>
      </p:sp>
      <p:sp>
        <p:nvSpPr>
          <p:cNvPr id="20" name="process-detail-3">
            <a:extLst xmlns:a="http://schemas.openxmlformats.org/drawingml/2006/main">
              <a:ext uri="{FF2B5EF4-FFF2-40B4-BE49-F238E27FC236}">
                <a16:creationId xmlns:a16="http://schemas.microsoft.com/office/drawing/2014/main" id="{12A0CD50-9A8E-4358-AD68-059E9D9C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4480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Review meeting with transcription when enabled</a:t>
            </a:r>
          </a:p>
        </p:txBody>
      </p:sp>
      <p:sp>
        <p:nvSpPr>
          <p:cNvPr id="21" name="process-4">
            <a:extLst xmlns:a="http://schemas.openxmlformats.org/drawingml/2006/main">
              <a:ext uri="{FF2B5EF4-FFF2-40B4-BE49-F238E27FC236}">
                <a16:creationId xmlns:a16="http://schemas.microsoft.com/office/drawing/2014/main" id="{46CB7109-52A1-4EB0-A024-F388A80F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2" name="number-4">
            <a:extLst xmlns:a="http://schemas.openxmlformats.org/drawingml/2006/main">
              <a:ext uri="{FF2B5EF4-FFF2-40B4-BE49-F238E27FC236}">
                <a16:creationId xmlns:a16="http://schemas.microsoft.com/office/drawing/2014/main" id="{3EDE2147-D288-45DF-84C8-E6033C08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006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umber-text-4">
            <a:extLst xmlns:a="http://schemas.openxmlformats.org/drawingml/2006/main">
              <a:ext uri="{FF2B5EF4-FFF2-40B4-BE49-F238E27FC236}">
                <a16:creationId xmlns:a16="http://schemas.microsoft.com/office/drawing/2014/main" id="{26FA2528-4AFA-4223-ABD1-5E9C4B1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process-title-4">
            <a:extLst xmlns:a="http://schemas.openxmlformats.org/drawingml/2006/main">
              <a:ext uri="{FF2B5EF4-FFF2-40B4-BE49-F238E27FC236}">
                <a16:creationId xmlns:a16="http://schemas.microsoft.com/office/drawing/2014/main" id="{EF48C21C-2E89-4545-B22B-BABCAD57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0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Findings and Changes</a:t>
            </a:r>
          </a:p>
        </p:txBody>
      </p:sp>
      <p:sp>
        <p:nvSpPr>
          <p:cNvPr id="25" name="process-detail-4">
            <a:extLst xmlns:a="http://schemas.openxmlformats.org/drawingml/2006/main">
              <a:ext uri="{FF2B5EF4-FFF2-40B4-BE49-F238E27FC236}">
                <a16:creationId xmlns:a16="http://schemas.microsoft.com/office/drawing/2014/main" id="{2D7CC056-2F51-4E2C-A1C7-89255E7E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Communicate required updates and evidence</a:t>
            </a:r>
          </a:p>
        </p:txBody>
      </p:sp>
      <p:sp>
        <p:nvSpPr>
          <p:cNvPr id="26" name="process-5">
            <a:extLst xmlns:a="http://schemas.openxmlformats.org/drawingml/2006/main">
              <a:ext uri="{FF2B5EF4-FFF2-40B4-BE49-F238E27FC236}">
                <a16:creationId xmlns:a16="http://schemas.microsoft.com/office/drawing/2014/main" id="{4BCA38D1-1966-49FE-BC72-BBBFA035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7" name="number-5">
            <a:extLst xmlns:a="http://schemas.openxmlformats.org/drawingml/2006/main">
              <a:ext uri="{FF2B5EF4-FFF2-40B4-BE49-F238E27FC236}">
                <a16:creationId xmlns:a16="http://schemas.microsoft.com/office/drawing/2014/main" id="{D83B3E19-CF82-4844-9BEA-9EC72911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006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47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number-text-5">
            <a:extLst xmlns:a="http://schemas.openxmlformats.org/drawingml/2006/main">
              <a:ext uri="{FF2B5EF4-FFF2-40B4-BE49-F238E27FC236}">
                <a16:creationId xmlns:a16="http://schemas.microsoft.com/office/drawing/2014/main" id="{9770C767-23CB-4183-90E5-F0FAC8DA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14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process-title-5">
            <a:extLst xmlns:a="http://schemas.openxmlformats.org/drawingml/2006/main">
              <a:ext uri="{FF2B5EF4-FFF2-40B4-BE49-F238E27FC236}">
                <a16:creationId xmlns:a16="http://schemas.microsoft.com/office/drawing/2014/main" id="{55DAA8EE-1308-475A-9788-98C8FBF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0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SI Revision</a:t>
            </a:r>
          </a:p>
        </p:txBody>
      </p:sp>
      <p:sp>
        <p:nvSpPr>
          <p:cNvPr id="30" name="process-detail-5">
            <a:extLst xmlns:a="http://schemas.openxmlformats.org/drawingml/2006/main">
              <a:ext uri="{FF2B5EF4-FFF2-40B4-BE49-F238E27FC236}">
                <a16:creationId xmlns:a16="http://schemas.microsoft.com/office/drawing/2014/main" id="{22BB5AA7-E236-4AC1-8F6F-0020F22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959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Project team updates the official SI</a:t>
            </a:r>
          </a:p>
        </p:txBody>
      </p:sp>
      <p:sp>
        <p:nvSpPr>
          <p:cNvPr id="31" name="process-6">
            <a:extLst xmlns:a="http://schemas.openxmlformats.org/drawingml/2006/main">
              <a:ext uri="{FF2B5EF4-FFF2-40B4-BE49-F238E27FC236}">
                <a16:creationId xmlns:a16="http://schemas.microsoft.com/office/drawing/2014/main" id="{D7683908-047A-40A0-9CBD-6FE41902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972050"/>
            <a:ext cx="4572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32" name="number-6">
            <a:extLst xmlns:a="http://schemas.openxmlformats.org/drawingml/2006/main">
              <a:ext uri="{FF2B5EF4-FFF2-40B4-BE49-F238E27FC236}">
                <a16:creationId xmlns:a16="http://schemas.microsoft.com/office/drawing/2014/main" id="{C35A370A-DB40-42E2-9341-26FF5407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200650"/>
            <a:ext cx="533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238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number-text-6">
            <a:extLst xmlns:a="http://schemas.openxmlformats.org/drawingml/2006/main">
              <a:ext uri="{FF2B5EF4-FFF2-40B4-BE49-F238E27FC236}">
                <a16:creationId xmlns:a16="http://schemas.microsoft.com/office/drawing/2014/main" id="{A55BD360-A8AB-419F-BEF9-2E3E8852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314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process-title-6">
            <a:extLst xmlns:a="http://schemas.openxmlformats.org/drawingml/2006/main">
              <a:ext uri="{FF2B5EF4-FFF2-40B4-BE49-F238E27FC236}">
                <a16:creationId xmlns:a16="http://schemas.microsoft.com/office/drawing/2014/main" id="{772AB4F6-7819-46F0-9D5C-00A5EC5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52006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1D33"/>
                </a:solidFill>
              </a:defRPr>
            </a:pPr>
            <a:r>
              <a:rPr sz="1800" b="1">
                <a:solidFill>
                  <a:srgbClr val="061D33"/>
                </a:solidFill>
              </a:rPr>
              <a:t>Further Review → Approval</a:t>
            </a:r>
          </a:p>
        </p:txBody>
      </p:sp>
      <p:sp>
        <p:nvSpPr>
          <p:cNvPr id="35" name="process-detail-6">
            <a:extLst xmlns:a="http://schemas.openxmlformats.org/drawingml/2006/main">
              <a:ext uri="{FF2B5EF4-FFF2-40B4-BE49-F238E27FC236}">
                <a16:creationId xmlns:a16="http://schemas.microsoft.com/office/drawing/2014/main" id="{815EA969-42D2-48BA-89D7-53198943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56959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Repeat until Domain Architect approval</a:t>
            </a:r>
          </a:p>
        </p:txBody>
      </p:sp>
      <p:sp>
        <p:nvSpPr>
          <p:cNvPr id="36" name="arrow-1">
            <a:extLst xmlns:a="http://schemas.openxmlformats.org/drawingml/2006/main">
              <a:ext uri="{FF2B5EF4-FFF2-40B4-BE49-F238E27FC236}">
                <a16:creationId xmlns:a16="http://schemas.microsoft.com/office/drawing/2014/main" id="{94EA0FE8-1EAA-4622-8C66-2C2067EB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19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473EA"/>
                </a:solidFill>
              </a:defRPr>
            </a:pPr>
            <a:r>
              <a:rPr sz="30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37" name="arrow-2">
            <a:extLst xmlns:a="http://schemas.openxmlformats.org/drawingml/2006/main">
              <a:ext uri="{FF2B5EF4-FFF2-40B4-BE49-F238E27FC236}">
                <a16:creationId xmlns:a16="http://schemas.microsoft.com/office/drawing/2014/main" id="{E9D8EBF6-AEC9-48D5-9144-00ADC2BC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2194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473EA"/>
                </a:solidFill>
              </a:defRPr>
            </a:pPr>
            <a:r>
              <a:rPr sz="30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38" name="arrow-3">
            <a:extLst xmlns:a="http://schemas.openxmlformats.org/drawingml/2006/main">
              <a:ext uri="{FF2B5EF4-FFF2-40B4-BE49-F238E27FC236}">
                <a16:creationId xmlns:a16="http://schemas.microsoft.com/office/drawing/2014/main" id="{47FC4DA0-5657-4092-90BE-050AA2AB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673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473EA"/>
                </a:solidFill>
              </a:defRPr>
            </a:pPr>
            <a:r>
              <a:rPr sz="30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39" name="arrow-4">
            <a:extLst xmlns:a="http://schemas.openxmlformats.org/drawingml/2006/main">
              <a:ext uri="{FF2B5EF4-FFF2-40B4-BE49-F238E27FC236}">
                <a16:creationId xmlns:a16="http://schemas.microsoft.com/office/drawing/2014/main" id="{C8291EFD-21EC-4670-9A14-4CF9A8A8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4673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238500"/>
                </a:solidFill>
              </a:defRPr>
            </a:pPr>
            <a:r>
              <a:rPr sz="3000" b="1">
                <a:solidFill>
                  <a:srgbClr val="238500"/>
                </a:solidFill>
              </a:rPr>
              <a:t>→</a:t>
            </a:r>
          </a:p>
        </p:txBody>
      </p:sp>
      <p:sp>
        <p:nvSpPr>
          <p:cNvPr id="40" name="ado-tag-surface">
            <a:extLst xmlns:a="http://schemas.openxmlformats.org/drawingml/2006/main">
              <a:ext uri="{FF2B5EF4-FFF2-40B4-BE49-F238E27FC236}">
                <a16:creationId xmlns:a16="http://schemas.microsoft.com/office/drawing/2014/main" id="{3322562F-547A-4E48-AB7F-25A9B3CA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10400"/>
            <a:ext cx="666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41" name="ado-tag">
            <a:extLst xmlns:a="http://schemas.openxmlformats.org/drawingml/2006/main">
              <a:ext uri="{FF2B5EF4-FFF2-40B4-BE49-F238E27FC236}">
                <a16:creationId xmlns:a16="http://schemas.microsoft.com/office/drawing/2014/main" id="{A7C506AE-2DEF-4BC2-B518-49985878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0565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473EA"/>
                </a:solidFill>
              </a:defRPr>
            </a:pPr>
            <a:r>
              <a:rPr sz="1425" b="1">
                <a:solidFill>
                  <a:srgbClr val="0473EA"/>
                </a:solidFill>
              </a:rPr>
              <a:t>ADO governance ticket · tracked actions · manual handoffs</a:t>
            </a:r>
          </a:p>
        </p:txBody>
      </p:sp>
      <p:sp>
        <p:nvSpPr>
          <p:cNvPr id="42" name="normalization-surface">
            <a:extLst xmlns:a="http://schemas.openxmlformats.org/drawingml/2006/main">
              <a:ext uri="{FF2B5EF4-FFF2-40B4-BE49-F238E27FC236}">
                <a16:creationId xmlns:a16="http://schemas.microsoft.com/office/drawing/2014/main" id="{8EB4C5AC-566A-4FF2-B3E6-9AE762ED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53350"/>
            <a:ext cx="1653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61D33"/>
          </a:solidFill>
          <a:ln xmlns:a="http://schemas.openxmlformats.org/drawingml/2006/main" w="9525">
            <a:solidFill>
              <a:srgbClr val="061D33"/>
            </a:solidFill>
            <a:prstDash val="solid"/>
          </a:ln>
        </p:spPr>
      </p:sp>
      <p:sp>
        <p:nvSpPr>
          <p:cNvPr id="43" name="norm-title">
            <a:extLst xmlns:a="http://schemas.openxmlformats.org/drawingml/2006/main">
              <a:ext uri="{FF2B5EF4-FFF2-40B4-BE49-F238E27FC236}">
                <a16:creationId xmlns:a16="http://schemas.microsoft.com/office/drawing/2014/main" id="{BDFA8971-9A2C-4231-99BE-E741C35F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020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8D200"/>
                </a:solidFill>
              </a:defRPr>
            </a:pPr>
            <a:r>
              <a:rPr sz="1650" b="1">
                <a:solidFill>
                  <a:srgbClr val="38D200"/>
                </a:solidFill>
              </a:rPr>
              <a:t>PoC normalization</a:t>
            </a:r>
          </a:p>
        </p:txBody>
      </p:sp>
      <p:sp>
        <p:nvSpPr>
          <p:cNvPr id="44" name="norm-one">
            <a:extLst xmlns:a="http://schemas.openxmlformats.org/drawingml/2006/main">
              <a:ext uri="{FF2B5EF4-FFF2-40B4-BE49-F238E27FC236}">
                <a16:creationId xmlns:a16="http://schemas.microsoft.com/office/drawing/2014/main" id="{64FD42A8-4DF4-486E-978D-59F841F6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79819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Confluence content  →  normalized SI content</a:t>
            </a:r>
          </a:p>
        </p:txBody>
      </p:sp>
      <p:sp>
        <p:nvSpPr>
          <p:cNvPr id="45" name="norm-two">
            <a:extLst xmlns:a="http://schemas.openxmlformats.org/drawingml/2006/main">
              <a:ext uri="{FF2B5EF4-FFF2-40B4-BE49-F238E27FC236}">
                <a16:creationId xmlns:a16="http://schemas.microsoft.com/office/drawing/2014/main" id="{E2D55C47-AB1B-48B7-A040-FDF80146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981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Teams transcript  →  normalized review transcript</a:t>
            </a:r>
          </a:p>
        </p:txBody>
      </p:sp>
      <p:sp>
        <p:nvSpPr>
          <p:cNvPr id="46" name="norm-note">
            <a:extLst xmlns:a="http://schemas.openxmlformats.org/drawingml/2006/main">
              <a:ext uri="{FF2B5EF4-FFF2-40B4-BE49-F238E27FC236}">
                <a16:creationId xmlns:a16="http://schemas.microsoft.com/office/drawing/2014/main" id="{10263F34-434E-404C-9403-4B9E2FF6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553450"/>
            <a:ext cx="1181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FD1DE"/>
                </a:solidFill>
              </a:defRPr>
            </a:pPr>
            <a:r>
              <a:rPr sz="1425" b="0">
                <a:solidFill>
                  <a:srgbClr val="BFD1DE"/>
                </a:solidFill>
              </a:rPr>
              <a:t>Synthetic inputs in this PoC · future approved connectors are not implemented</a:t>
            </a:r>
          </a:p>
        </p:txBody>
      </p:sp>
      <p:sp>
        <p:nvSpPr>
          <p:cNvPr id="47" name="footer-2">
            <a:extLst xmlns:a="http://schemas.openxmlformats.org/drawingml/2006/main">
              <a:ext uri="{FF2B5EF4-FFF2-40B4-BE49-F238E27FC236}">
                <a16:creationId xmlns:a16="http://schemas.microsoft.com/office/drawing/2014/main" id="{2A90515D-51A9-4638-BE7A-38C56A11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44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27D"/>
                </a:solidFill>
              </a:defRPr>
            </a:pPr>
            <a:r>
              <a:rPr sz="1275" b="1">
                <a:solidFill>
                  <a:srgbClr val="66727D"/>
                </a:solidFill>
              </a:rPr>
              <a:t>ARCHITECTURE GOVERNANCE COPILOT  ·  ACCELERATE 3.0</a:t>
            </a:r>
          </a:p>
        </p:txBody>
      </p:sp>
      <p:sp>
        <p:nvSpPr>
          <p:cNvPr id="48" name="page-2">
            <a:extLst xmlns:a="http://schemas.openxmlformats.org/drawingml/2006/main">
              <a:ext uri="{FF2B5EF4-FFF2-40B4-BE49-F238E27FC236}">
                <a16:creationId xmlns:a16="http://schemas.microsoft.com/office/drawing/2014/main" id="{350D18A1-3009-4687-801F-AFA9768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15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53739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lue-accent">
            <a:extLst xmlns:a="http://schemas.openxmlformats.org/drawingml/2006/main">
              <a:ext uri="{FF2B5EF4-FFF2-40B4-BE49-F238E27FC236}">
                <a16:creationId xmlns:a16="http://schemas.microsoft.com/office/drawing/2014/main" id="{4A42B032-925D-4F35-A90D-3848492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FA82F5ED-88EB-4A64-A24E-FE15067F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C34D0B0-69C3-4550-8585-6C8672C9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473EA"/>
                </a:solidFill>
              </a:defRPr>
            </a:pPr>
            <a:r>
              <a:rPr sz="1350" b="1">
                <a:solidFill>
                  <a:srgbClr val="0473EA"/>
                </a:solidFill>
              </a:rPr>
              <a:t>PROPOSED SOLUTION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1083BD-8FE6-4746-9445-86A06E21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533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61D33"/>
                </a:solidFill>
              </a:defRPr>
            </a:pPr>
            <a:r>
              <a:rPr sz="3450" b="1">
                <a:solidFill>
                  <a:srgbClr val="061D33"/>
                </a:solidFill>
              </a:rPr>
              <a:t>Draft the SI, structure the review, keep humans accountable</a:t>
            </a:r>
          </a:p>
        </p:txBody>
      </p:sp>
      <p:sp>
        <p:nvSpPr>
          <p:cNvPr id="5" name="input-one">
            <a:extLst xmlns:a="http://schemas.openxmlformats.org/drawingml/2006/main">
              <a:ext uri="{FF2B5EF4-FFF2-40B4-BE49-F238E27FC236}">
                <a16:creationId xmlns:a16="http://schemas.microsoft.com/office/drawing/2014/main" id="{0E833E2C-2A29-4126-893D-8FD5FBE0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619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6" name="input-one-title">
            <a:extLst xmlns:a="http://schemas.openxmlformats.org/drawingml/2006/main">
              <a:ext uri="{FF2B5EF4-FFF2-40B4-BE49-F238E27FC236}">
                <a16:creationId xmlns:a16="http://schemas.microsoft.com/office/drawing/2014/main" id="{5D16C73E-7261-47C5-A70A-E794E87D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86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Project Context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Package</a:t>
            </a:r>
          </a:p>
        </p:txBody>
      </p:sp>
      <p:sp>
        <p:nvSpPr>
          <p:cNvPr id="7" name="plus">
            <a:extLst xmlns:a="http://schemas.openxmlformats.org/drawingml/2006/main">
              <a:ext uri="{FF2B5EF4-FFF2-40B4-BE49-F238E27FC236}">
                <a16:creationId xmlns:a16="http://schemas.microsoft.com/office/drawing/2014/main" id="{37E12764-9441-4ACE-82DE-7756C244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67200"/>
            <a:ext cx="685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0473EA"/>
                </a:solidFill>
              </a:defRPr>
            </a:pPr>
            <a:r>
              <a:rPr sz="3450" b="1">
                <a:solidFill>
                  <a:srgbClr val="0473EA"/>
                </a:solidFill>
              </a:rPr>
              <a:t>+</a:t>
            </a:r>
          </a:p>
        </p:txBody>
      </p:sp>
      <p:sp>
        <p:nvSpPr>
          <p:cNvPr id="8" name="input-two">
            <a:extLst xmlns:a="http://schemas.openxmlformats.org/drawingml/2006/main">
              <a:ext uri="{FF2B5EF4-FFF2-40B4-BE49-F238E27FC236}">
                <a16:creationId xmlns:a16="http://schemas.microsoft.com/office/drawing/2014/main" id="{B58D6A28-A325-4FDC-92C0-11704973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36195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9" name="input-two-title">
            <a:extLst xmlns:a="http://schemas.openxmlformats.org/drawingml/2006/main">
              <a:ext uri="{FF2B5EF4-FFF2-40B4-BE49-F238E27FC236}">
                <a16:creationId xmlns:a16="http://schemas.microsoft.com/office/drawing/2014/main" id="{A8EEFEF5-835E-40B0-9DA4-F8721203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816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Review Transcript +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61D33"/>
                </a:solidFill>
              </a:defRPr>
            </a:pPr>
            <a:r>
              <a:rPr sz="2025" b="1">
                <a:solidFill>
                  <a:srgbClr val="061D33"/>
                </a:solidFill>
              </a:rPr>
              <a:t>Metadata</a:t>
            </a:r>
          </a:p>
        </p:txBody>
      </p:sp>
      <p:sp>
        <p:nvSpPr>
          <p:cNvPr id="10" name="arrow-a">
            <a:extLst xmlns:a="http://schemas.openxmlformats.org/drawingml/2006/main">
              <a:ext uri="{FF2B5EF4-FFF2-40B4-BE49-F238E27FC236}">
                <a16:creationId xmlns:a16="http://schemas.microsoft.com/office/drawing/2014/main" id="{7F88CDDA-BBF8-4CC3-8DBE-36C42BA4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719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473EA"/>
                </a:solidFill>
              </a:defRPr>
            </a:pPr>
            <a:r>
              <a:rPr sz="3600" b="1">
                <a:solidFill>
                  <a:srgbClr val="0473EA"/>
                </a:solidFill>
              </a:rPr>
              <a:t>→</a:t>
            </a:r>
          </a:p>
        </p:txBody>
      </p:sp>
      <p:sp>
        <p:nvSpPr>
          <p:cNvPr id="11" name="structured">
            <a:extLst xmlns:a="http://schemas.openxmlformats.org/drawingml/2006/main">
              <a:ext uri="{FF2B5EF4-FFF2-40B4-BE49-F238E27FC236}">
                <a16:creationId xmlns:a16="http://schemas.microsoft.com/office/drawing/2014/main" id="{729F4C07-AFFA-40EB-9328-9BD2B234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4095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12" name="structured-label">
            <a:extLst xmlns:a="http://schemas.openxmlformats.org/drawingml/2006/main">
              <a:ext uri="{FF2B5EF4-FFF2-40B4-BE49-F238E27FC236}">
                <a16:creationId xmlns:a16="http://schemas.microsoft.com/office/drawing/2014/main" id="{15A2EB7E-8DEB-46CF-B7B9-8BFFC3F1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473EA"/>
                </a:solidFill>
              </a:defRPr>
            </a:pPr>
            <a:r>
              <a:rPr sz="1350" b="1">
                <a:solidFill>
                  <a:srgbClr val="0473EA"/>
                </a:solidFill>
              </a:rPr>
              <a:t>DRAFT + GOVERNANCE REVIEW</a:t>
            </a:r>
          </a:p>
        </p:txBody>
      </p:sp>
      <p:sp>
        <p:nvSpPr>
          <p:cNvPr id="13" name="structured-title">
            <a:extLst xmlns:a="http://schemas.openxmlformats.org/drawingml/2006/main">
              <a:ext uri="{FF2B5EF4-FFF2-40B4-BE49-F238E27FC236}">
                <a16:creationId xmlns:a16="http://schemas.microsoft.com/office/drawing/2014/main" id="{1B07704F-0C4F-4AFF-B76F-ADE25262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333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61D33"/>
                </a:solidFill>
              </a:defRPr>
            </a:pPr>
            <a:r>
              <a:rPr sz="1875" b="1">
                <a:solidFill>
                  <a:srgbClr val="061D33"/>
                </a:solidFill>
              </a:rPr>
              <a:t>Solution Intent · Outcome · Findings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61D33"/>
                </a:solidFill>
              </a:defRPr>
            </a:pPr>
            <a:r>
              <a:rPr sz="1875" b="1">
                <a:solidFill>
                  <a:srgbClr val="061D33"/>
                </a:solidFill>
              </a:rPr>
              <a:t>Decisions · Actions · Evidence</a:t>
            </a:r>
          </a:p>
        </p:txBody>
      </p:sp>
      <p:sp>
        <p:nvSpPr>
          <p:cNvPr id="14" name="arrow-b">
            <a:extLst xmlns:a="http://schemas.openxmlformats.org/drawingml/2006/main">
              <a:ext uri="{FF2B5EF4-FFF2-40B4-BE49-F238E27FC236}">
                <a16:creationId xmlns:a16="http://schemas.microsoft.com/office/drawing/2014/main" id="{A402E7D7-4BE7-4CE7-824C-0F8E95EE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719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38500"/>
                </a:solidFill>
              </a:defRPr>
            </a:pPr>
            <a:r>
              <a:rPr sz="3600" b="1">
                <a:solidFill>
                  <a:srgbClr val="238500"/>
                </a:solidFill>
              </a:rPr>
              <a:t>→</a:t>
            </a:r>
          </a:p>
        </p:txBody>
      </p:sp>
      <p:sp>
        <p:nvSpPr>
          <p:cNvPr id="15" name="human">
            <a:extLst xmlns:a="http://schemas.openxmlformats.org/drawingml/2006/main">
              <a:ext uri="{FF2B5EF4-FFF2-40B4-BE49-F238E27FC236}">
                <a16:creationId xmlns:a16="http://schemas.microsoft.com/office/drawing/2014/main" id="{3CF602AF-CC93-47B3-BAC0-37188CA8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3337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BFAE5"/>
          </a:solidFill>
          <a:ln xmlns:a="http://schemas.openxmlformats.org/drawingml/2006/main" w="9525">
            <a:solidFill>
              <a:srgbClr val="238500"/>
            </a:solidFill>
            <a:prstDash val="solid"/>
          </a:ln>
        </p:spPr>
      </p:sp>
      <p:sp>
        <p:nvSpPr>
          <p:cNvPr id="16" name="human-label">
            <a:extLst xmlns:a="http://schemas.openxmlformats.org/drawingml/2006/main">
              <a:ext uri="{FF2B5EF4-FFF2-40B4-BE49-F238E27FC236}">
                <a16:creationId xmlns:a16="http://schemas.microsoft.com/office/drawing/2014/main" id="{F7436A3E-9177-403D-8195-F93723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14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38500"/>
                </a:solidFill>
              </a:defRPr>
            </a:pPr>
            <a:r>
              <a:rPr sz="1350" b="1">
                <a:solidFill>
                  <a:srgbClr val="238500"/>
                </a:solidFill>
              </a:rPr>
              <a:t>HUMAN CONTROL</a:t>
            </a:r>
          </a:p>
        </p:txBody>
      </p:sp>
      <p:sp>
        <p:nvSpPr>
          <p:cNvPr id="17" name="human-title">
            <a:extLst xmlns:a="http://schemas.openxmlformats.org/drawingml/2006/main">
              <a:ext uri="{FF2B5EF4-FFF2-40B4-BE49-F238E27FC236}">
                <a16:creationId xmlns:a16="http://schemas.microsoft.com/office/drawing/2014/main" id="{746E634A-632A-4AEA-923F-20F30CA2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2672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61D33"/>
                </a:solidFill>
              </a:defRPr>
            </a:pPr>
            <a:r>
              <a:rPr sz="1950" b="1">
                <a:solidFill>
                  <a:srgbClr val="061D33"/>
                </a:solidFill>
              </a:rPr>
              <a:t>Review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61D33"/>
                </a:solidFill>
              </a:defRPr>
            </a:pPr>
            <a:r>
              <a:rPr sz="1950" b="1">
                <a:solidFill>
                  <a:srgbClr val="061D33"/>
                </a:solidFill>
              </a:rPr>
              <a:t>Edit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061D33"/>
                </a:solidFill>
              </a:defRPr>
            </a:pPr>
            <a:r>
              <a:rPr sz="1950" b="1">
                <a:solidFill>
                  <a:srgbClr val="061D33"/>
                </a:solidFill>
              </a:rPr>
              <a:t>Include / Exclude</a:t>
            </a:r>
          </a:p>
        </p:txBody>
      </p:sp>
      <p:sp>
        <p:nvSpPr>
          <p:cNvPr id="18" name="arrow-c">
            <a:extLst xmlns:a="http://schemas.openxmlformats.org/drawingml/2006/main">
              <a:ext uri="{FF2B5EF4-FFF2-40B4-BE49-F238E27FC236}">
                <a16:creationId xmlns:a16="http://schemas.microsoft.com/office/drawing/2014/main" id="{87FA02B7-8B62-47C7-B820-09759B62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1719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38500"/>
                </a:solidFill>
              </a:defRPr>
            </a:pPr>
            <a:r>
              <a:rPr sz="3600" b="1">
                <a:solidFill>
                  <a:srgbClr val="238500"/>
                </a:solidFill>
              </a:rPr>
              <a:t>→</a:t>
            </a:r>
          </a:p>
        </p:txBody>
      </p:sp>
      <p:sp>
        <p:nvSpPr>
          <p:cNvPr id="19" name="outputs">
            <a:extLst xmlns:a="http://schemas.openxmlformats.org/drawingml/2006/main">
              <a:ext uri="{FF2B5EF4-FFF2-40B4-BE49-F238E27FC236}">
                <a16:creationId xmlns:a16="http://schemas.microsoft.com/office/drawing/2014/main" id="{5C22A284-8B50-48D0-B4E4-5FA3761E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333750"/>
            <a:ext cx="24574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61D33"/>
          </a:solidFill>
          <a:ln xmlns:a="http://schemas.openxmlformats.org/drawingml/2006/main" w="9525">
            <a:solidFill>
              <a:srgbClr val="061D33"/>
            </a:solidFill>
            <a:prstDash val="solid"/>
          </a:ln>
        </p:spPr>
      </p:sp>
      <p:sp>
        <p:nvSpPr>
          <p:cNvPr id="20" name="outputs-label">
            <a:extLst xmlns:a="http://schemas.openxmlformats.org/drawingml/2006/main">
              <a:ext uri="{FF2B5EF4-FFF2-40B4-BE49-F238E27FC236}">
                <a16:creationId xmlns:a16="http://schemas.microsoft.com/office/drawing/2014/main" id="{AEC6E6AE-A70A-4D7D-94AD-79E6107E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7147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8D200"/>
                </a:solidFill>
              </a:defRPr>
            </a:pPr>
            <a:r>
              <a:rPr sz="1350" b="1">
                <a:solidFill>
                  <a:srgbClr val="38D200"/>
                </a:solidFill>
              </a:rPr>
              <a:t>OUTPUTS</a:t>
            </a:r>
          </a:p>
        </p:txBody>
      </p:sp>
      <p:sp>
        <p:nvSpPr>
          <p:cNvPr id="21" name="outputs-title">
            <a:extLst xmlns:a="http://schemas.openxmlformats.org/drawingml/2006/main">
              <a:ext uri="{FF2B5EF4-FFF2-40B4-BE49-F238E27FC236}">
                <a16:creationId xmlns:a16="http://schemas.microsoft.com/office/drawing/2014/main" id="{FCD35FBB-65C3-459C-A228-5B7B0AD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4210050"/>
            <a:ext cx="2038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Review Record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+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ADO Item Previews</a:t>
            </a:r>
          </a:p>
        </p:txBody>
      </p:sp>
      <p:sp>
        <p:nvSpPr>
          <p:cNvPr id="22" name="tag-evidence-surface">
            <a:extLst xmlns:a="http://schemas.openxmlformats.org/drawingml/2006/main">
              <a:ext uri="{FF2B5EF4-FFF2-40B4-BE49-F238E27FC236}">
                <a16:creationId xmlns:a16="http://schemas.microsoft.com/office/drawing/2014/main" id="{51981C6D-F80D-4182-ACA9-22F8D758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72390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3" name="tag-evidence">
            <a:extLst xmlns:a="http://schemas.openxmlformats.org/drawingml/2006/main">
              <a:ext uri="{FF2B5EF4-FFF2-40B4-BE49-F238E27FC236}">
                <a16:creationId xmlns:a16="http://schemas.microsoft.com/office/drawing/2014/main" id="{95A4ADD3-185C-43E0-8F57-DDE7DE43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7334250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473EA"/>
                </a:solidFill>
              </a:defRPr>
            </a:pPr>
            <a:r>
              <a:rPr sz="1425" b="1">
                <a:solidFill>
                  <a:srgbClr val="0473EA"/>
                </a:solidFill>
              </a:rPr>
              <a:t>Evidence Traceability</a:t>
            </a:r>
          </a:p>
        </p:txBody>
      </p:sp>
      <p:sp>
        <p:nvSpPr>
          <p:cNvPr id="24" name="tag-structured-surface">
            <a:extLst xmlns:a="http://schemas.openxmlformats.org/drawingml/2006/main">
              <a:ext uri="{FF2B5EF4-FFF2-40B4-BE49-F238E27FC236}">
                <a16:creationId xmlns:a16="http://schemas.microsoft.com/office/drawing/2014/main" id="{0BE98439-089C-4473-90D2-C98F64A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4191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7F1FD"/>
          </a:solidFill>
          <a:ln xmlns:a="http://schemas.openxmlformats.org/drawingml/2006/main" w="9525">
            <a:solidFill>
              <a:srgbClr val="E7F1FD"/>
            </a:solidFill>
            <a:prstDash val="solid"/>
          </a:ln>
        </p:spPr>
      </p:sp>
      <p:sp>
        <p:nvSpPr>
          <p:cNvPr id="25" name="tag-structured">
            <a:extLst xmlns:a="http://schemas.openxmlformats.org/drawingml/2006/main">
              <a:ext uri="{FF2B5EF4-FFF2-40B4-BE49-F238E27FC236}">
                <a16:creationId xmlns:a16="http://schemas.microsoft.com/office/drawing/2014/main" id="{58A758C1-3AA8-4161-B675-C70DA33E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3342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473EA"/>
                </a:solidFill>
              </a:defRPr>
            </a:pPr>
            <a:r>
              <a:rPr sz="1425" b="1">
                <a:solidFill>
                  <a:srgbClr val="0473EA"/>
                </a:solidFill>
              </a:rPr>
              <a:t>Structured Findings and Actions</a:t>
            </a:r>
          </a:p>
        </p:txBody>
      </p:sp>
      <p:sp>
        <p:nvSpPr>
          <p:cNvPr id="26" name="tag-human-surface">
            <a:extLst xmlns:a="http://schemas.openxmlformats.org/drawingml/2006/main">
              <a:ext uri="{FF2B5EF4-FFF2-40B4-BE49-F238E27FC236}">
                <a16:creationId xmlns:a16="http://schemas.microsoft.com/office/drawing/2014/main" id="{03D99F7E-13B6-4687-A7F4-1D965B74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7239000"/>
            <a:ext cx="342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BFAE5"/>
          </a:solidFill>
          <a:ln xmlns:a="http://schemas.openxmlformats.org/drawingml/2006/main" w="9525">
            <a:solidFill>
              <a:srgbClr val="EBFAE5"/>
            </a:solidFill>
            <a:prstDash val="solid"/>
          </a:ln>
        </p:spPr>
      </p:sp>
      <p:sp>
        <p:nvSpPr>
          <p:cNvPr id="27" name="tag-human">
            <a:extLst xmlns:a="http://schemas.openxmlformats.org/drawingml/2006/main">
              <a:ext uri="{FF2B5EF4-FFF2-40B4-BE49-F238E27FC236}">
                <a16:creationId xmlns:a16="http://schemas.microsoft.com/office/drawing/2014/main" id="{64949419-FA2C-4F70-8742-21E0CB03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73342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38500"/>
                </a:solidFill>
              </a:defRPr>
            </a:pPr>
            <a:r>
              <a:rPr sz="1425" b="1">
                <a:solidFill>
                  <a:srgbClr val="238500"/>
                </a:solidFill>
              </a:rPr>
              <a:t>Human Accountability</a:t>
            </a:r>
          </a:p>
        </p:txBody>
      </p:sp>
      <p:sp>
        <p:nvSpPr>
          <p:cNvPr id="28" name="no-auto">
            <a:extLst xmlns:a="http://schemas.openxmlformats.org/drawingml/2006/main">
              <a:ext uri="{FF2B5EF4-FFF2-40B4-BE49-F238E27FC236}">
                <a16:creationId xmlns:a16="http://schemas.microsoft.com/office/drawing/2014/main" id="{ACCF006A-E41A-4FD5-8F63-6DDD43FD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62950"/>
            <a:ext cx="1653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1D33"/>
                </a:solidFill>
              </a:defRPr>
            </a:pPr>
            <a:r>
              <a:rPr sz="2250" b="1">
                <a:solidFill>
                  <a:srgbClr val="061D33"/>
                </a:solidFill>
              </a:rPr>
              <a:t>NO AUTOMATIC APPROVAL</a:t>
            </a:r>
          </a:p>
        </p:txBody>
      </p:sp>
      <p:sp>
        <p:nvSpPr>
          <p:cNvPr id="29" name="footer-3">
            <a:extLst xmlns:a="http://schemas.openxmlformats.org/drawingml/2006/main">
              <a:ext uri="{FF2B5EF4-FFF2-40B4-BE49-F238E27FC236}">
                <a16:creationId xmlns:a16="http://schemas.microsoft.com/office/drawing/2014/main" id="{14D6A3C6-3C17-4CD9-96C6-47E1EE48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44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6727D"/>
                </a:solidFill>
              </a:defRPr>
            </a:pPr>
            <a:r>
              <a:rPr sz="1275" b="1">
                <a:solidFill>
                  <a:srgbClr val="66727D"/>
                </a:solidFill>
              </a:rPr>
              <a:t>ARCHITECTURE GOVERNANCE COPILOT  ·  ACCELERATE 3.0</a:t>
            </a:r>
          </a:p>
        </p:txBody>
      </p:sp>
      <p:sp>
        <p:nvSpPr>
          <p:cNvPr id="30" name="page-3">
            <a:extLst xmlns:a="http://schemas.openxmlformats.org/drawingml/2006/main">
              <a:ext uri="{FF2B5EF4-FFF2-40B4-BE49-F238E27FC236}">
                <a16:creationId xmlns:a16="http://schemas.microsoft.com/office/drawing/2014/main" id="{EBE1167A-0285-45F3-B2AF-D3A65D48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15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6727D"/>
                </a:solidFill>
              </a:defRPr>
            </a:pPr>
            <a:r>
              <a:rPr sz="1350" b="1">
                <a:solidFill>
                  <a:srgbClr val="66727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11799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lue-accent">
            <a:extLst xmlns:a="http://schemas.openxmlformats.org/drawingml/2006/main">
              <a:ext uri="{FF2B5EF4-FFF2-40B4-BE49-F238E27FC236}">
                <a16:creationId xmlns:a16="http://schemas.microsoft.com/office/drawing/2014/main" id="{05D229D3-7CEA-4815-A202-D0CF476D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66B1AA66-0D54-4D79-AA50-3E482C28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5345342-B62A-467F-8F02-70C7A4B7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8D200"/>
                </a:solidFill>
              </a:defRPr>
            </a:pPr>
            <a:r>
              <a:rPr sz="1350" b="1">
                <a:solidFill>
                  <a:srgbClr val="38D200"/>
                </a:solidFill>
              </a:rPr>
              <a:t>SYSTEM ARCHITECTURE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9676ED-56E6-4120-B302-192B9510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1533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Target architecture connects governed context to AI-assisted review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FE72606-0CAE-4B26-B70D-FB289CDB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B9C8D5"/>
                </a:solidFill>
              </a:defRPr>
            </a:pPr>
            <a:r>
              <a:rPr sz="1725" b="0">
                <a:solidFill>
                  <a:srgbClr val="B9C8D5"/>
                </a:solidFill>
              </a:rPr>
              <a:t>Proposed production integration view · Current PoC uses local deterministic providers.</a:t>
            </a:r>
          </a:p>
        </p:txBody>
      </p:sp>
      <p:sp>
        <p:nvSpPr>
          <p:cNvPr id="25" name="footer-4">
            <a:extLst xmlns:a="http://schemas.openxmlformats.org/drawingml/2006/main">
              <a:ext uri="{FF2B5EF4-FFF2-40B4-BE49-F238E27FC236}">
                <a16:creationId xmlns:a16="http://schemas.microsoft.com/office/drawing/2014/main" id="{22152D19-0C3E-4929-BC52-F2D74F77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7440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C8D5"/>
                </a:solidFill>
              </a:defRPr>
            </a:pPr>
            <a:r>
              <a:rPr sz="1275" b="1">
                <a:solidFill>
                  <a:srgbClr val="B9C8D5"/>
                </a:solidFill>
              </a:rPr>
              <a:t>ARCHITECTURE GOVERNANCE COPILOT  ·  ACCELERATE 3.0</a:t>
            </a:r>
          </a:p>
        </p:txBody>
      </p:sp>
      <p:sp>
        <p:nvSpPr>
          <p:cNvPr id="26" name="page-4">
            <a:extLst xmlns:a="http://schemas.openxmlformats.org/drawingml/2006/main">
              <a:ext uri="{FF2B5EF4-FFF2-40B4-BE49-F238E27FC236}">
                <a16:creationId xmlns:a16="http://schemas.microsoft.com/office/drawing/2014/main" id="{6619BCDB-2AF7-4BE9-A9CB-3D3EF764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715500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B9C8D5"/>
                </a:solidFill>
              </a:defRPr>
            </a:pPr>
            <a:r>
              <a:rPr sz="1350" b="1">
                <a:solidFill>
                  <a:srgbClr val="B9C8D5"/>
                </a:solidFill>
              </a:rPr>
              <a:t>04</a:t>
            </a:r>
          </a:p>
        </p:txBody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2b78468664c12"/>
          <a:stretch xmlns:a="http://schemas.openxmlformats.org/drawingml/2006/main"/>
        </p:blipFill>
        <p:spPr>
          <a:xfrm xmlns:a="http://schemas.openxmlformats.org/drawingml/2006/main">
            <a:off x="685800" y="2815971"/>
            <a:ext cx="16916400" cy="5836158"/>
          </a:xfrm>
          <a:prstGeom xmlns:a="http://schemas.openxmlformats.org/drawingml/2006/main" prst="rect">
            <a:avLst/>
          </a:prstGeom>
        </p:spPr>
      </p:pic>
      <p:sp>
        <p:nvSpPr>
          <p:cNvPr id="29" name="architecture-canvas">
            <a:extLst xmlns:a="http://schemas.openxmlformats.org/drawingml/2006/main">
              <a:ext uri="{FF2B5EF4-FFF2-40B4-BE49-F238E27FC236}">
                <a16:creationId xmlns:a16="http://schemas.microsoft.com/office/drawing/2014/main" id="{7B615CDB-381C-482C-ADE9-4E038A9B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6916400" cy="6238875"/>
          </a:xfrm>
          <a:prstGeom xmlns:a="http://schemas.openxmlformats.org/drawingml/2006/main" prst="roundRect">
            <a:avLst>
              <a:gd name="adj" fmla="val 1832"/>
            </a:avLst>
          </a:prstGeom>
          <a:solidFill xmlns:a="http://schemas.openxmlformats.org/drawingml/2006/main">
            <a:srgbClr val="061D33"/>
          </a:solidFill>
          <a:ln xmlns:a="http://schemas.openxmlformats.org/drawingml/2006/main" w="14288">
            <a:solidFill>
              <a:srgbClr val="061D33"/>
            </a:solidFill>
            <a:prstDash val="solid"/>
          </a:ln>
        </p:spPr>
      </p:sp>
      <p:sp>
        <p:nvSpPr>
          <p:cNvPr id="30" name="line-user-frontend">
            <a:extLst xmlns:a="http://schemas.openxmlformats.org/drawingml/2006/main">
              <a:ext uri="{FF2B5EF4-FFF2-40B4-BE49-F238E27FC236}">
                <a16:creationId xmlns:a16="http://schemas.microsoft.com/office/drawing/2014/main" id="{F1FE4229-A686-434E-A694-67AC17DE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790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C3FF"/>
          </a:solidFill>
          <a:ln xmlns:a="http://schemas.openxmlformats.org/drawingml/2006/main" w="0">
            <a:solidFill>
              <a:srgbClr val="7FC3FF"/>
            </a:solidFill>
            <a:prstDash val="solid"/>
          </a:ln>
        </p:spPr>
      </p:sp>
      <p:sp>
        <p:nvSpPr>
          <p:cNvPr id="31" name="line-frontend-backend">
            <a:extLst xmlns:a="http://schemas.openxmlformats.org/drawingml/2006/main">
              <a:ext uri="{FF2B5EF4-FFF2-40B4-BE49-F238E27FC236}">
                <a16:creationId xmlns:a16="http://schemas.microsoft.com/office/drawing/2014/main" id="{B47750D1-93D6-4B1F-94F2-5F0023D5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9585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880"/>
          </a:solidFill>
          <a:ln xmlns:a="http://schemas.openxmlformats.org/drawingml/2006/main" w="0">
            <a:solidFill>
              <a:srgbClr val="9BE880"/>
            </a:solidFill>
            <a:prstDash val="solid"/>
          </a:ln>
        </p:spPr>
      </p:sp>
      <p:sp>
        <p:nvSpPr>
          <p:cNvPr id="32" name="line-backend-adapter-main">
            <a:extLst xmlns:a="http://schemas.openxmlformats.org/drawingml/2006/main">
              <a:ext uri="{FF2B5EF4-FFF2-40B4-BE49-F238E27FC236}">
                <a16:creationId xmlns:a16="http://schemas.microsoft.com/office/drawing/2014/main" id="{2DDC50D3-8F06-4786-A622-57070CC0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9110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880"/>
          </a:solidFill>
          <a:ln xmlns:a="http://schemas.openxmlformats.org/drawingml/2006/main" w="0">
            <a:solidFill>
              <a:srgbClr val="9BE880"/>
            </a:solidFill>
            <a:prstDash val="solid"/>
          </a:ln>
        </p:spPr>
      </p:sp>
      <p:sp>
        <p:nvSpPr>
          <p:cNvPr id="33" name="line-backend-adapter-bus">
            <a:extLst xmlns:a="http://schemas.openxmlformats.org/drawingml/2006/main">
              <a:ext uri="{FF2B5EF4-FFF2-40B4-BE49-F238E27FC236}">
                <a16:creationId xmlns:a16="http://schemas.microsoft.com/office/drawing/2014/main" id="{AD8AF3EC-9292-49F0-950C-973D6E8B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905250"/>
            <a:ext cx="28575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880"/>
          </a:solidFill>
          <a:ln xmlns:a="http://schemas.openxmlformats.org/drawingml/2006/main" w="0">
            <a:solidFill>
              <a:srgbClr val="9BE880"/>
            </a:solidFill>
            <a:prstDash val="solid"/>
          </a:ln>
        </p:spPr>
      </p:sp>
      <p:sp>
        <p:nvSpPr>
          <p:cNvPr id="34" name="line-backend-confluence">
            <a:extLst xmlns:a="http://schemas.openxmlformats.org/drawingml/2006/main">
              <a:ext uri="{FF2B5EF4-FFF2-40B4-BE49-F238E27FC236}">
                <a16:creationId xmlns:a16="http://schemas.microsoft.com/office/drawing/2014/main" id="{A91721AB-2440-4503-AE61-3468D5E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9052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880"/>
          </a:solidFill>
          <a:ln xmlns:a="http://schemas.openxmlformats.org/drawingml/2006/main" w="0">
            <a:solidFill>
              <a:srgbClr val="9BE880"/>
            </a:solidFill>
            <a:prstDash val="solid"/>
          </a:ln>
        </p:spPr>
      </p:sp>
      <p:sp>
        <p:nvSpPr>
          <p:cNvPr id="35" name="line-backend-teams">
            <a:extLst xmlns:a="http://schemas.openxmlformats.org/drawingml/2006/main">
              <a:ext uri="{FF2B5EF4-FFF2-40B4-BE49-F238E27FC236}">
                <a16:creationId xmlns:a16="http://schemas.microsoft.com/office/drawing/2014/main" id="{8EF36261-635A-4DE8-BE83-E868633B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76250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880"/>
          </a:solidFill>
          <a:ln xmlns:a="http://schemas.openxmlformats.org/drawingml/2006/main" w="0">
            <a:solidFill>
              <a:srgbClr val="9BE880"/>
            </a:solidFill>
            <a:prstDash val="solid"/>
          </a:ln>
        </p:spPr>
      </p:sp>
      <p:sp>
        <p:nvSpPr>
          <p:cNvPr id="36" name="line-backend-aif">
            <a:extLst xmlns:a="http://schemas.openxmlformats.org/drawingml/2006/main">
              <a:ext uri="{FF2B5EF4-FFF2-40B4-BE49-F238E27FC236}">
                <a16:creationId xmlns:a16="http://schemas.microsoft.com/office/drawing/2014/main" id="{1E0B3FCB-D700-46BE-A9F7-8F0CA30F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61975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880"/>
          </a:solidFill>
          <a:ln xmlns:a="http://schemas.openxmlformats.org/drawingml/2006/main" w="0">
            <a:solidFill>
              <a:srgbClr val="9BE880"/>
            </a:solidFill>
            <a:prstDash val="solid"/>
          </a:ln>
        </p:spPr>
      </p:sp>
      <p:sp>
        <p:nvSpPr>
          <p:cNvPr id="37" name="line-backend-ado">
            <a:extLst xmlns:a="http://schemas.openxmlformats.org/drawingml/2006/main">
              <a:ext uri="{FF2B5EF4-FFF2-40B4-BE49-F238E27FC236}">
                <a16:creationId xmlns:a16="http://schemas.microsoft.com/office/drawing/2014/main" id="{27441DB2-9B2C-48ED-908B-5A241ED2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705600"/>
            <a:ext cx="123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E880"/>
          </a:solidFill>
          <a:ln xmlns:a="http://schemas.openxmlformats.org/drawingml/2006/main" w="0">
            <a:solidFill>
              <a:srgbClr val="9BE880"/>
            </a:solidFill>
            <a:prstDash val="solid"/>
          </a:ln>
        </p:spPr>
      </p:sp>
      <p:sp>
        <p:nvSpPr>
          <p:cNvPr id="38" name="line-confluence-connector">
            <a:extLst xmlns:a="http://schemas.openxmlformats.org/drawingml/2006/main">
              <a:ext uri="{FF2B5EF4-FFF2-40B4-BE49-F238E27FC236}">
                <a16:creationId xmlns:a16="http://schemas.microsoft.com/office/drawing/2014/main" id="{A3E8E016-A74E-4E4D-885D-2C0C46F4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05250"/>
            <a:ext cx="3381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594"/>
          </a:solidFill>
          <a:ln xmlns:a="http://schemas.openxmlformats.org/drawingml/2006/main" w="0">
            <a:solidFill>
              <a:srgbClr val="4D7594"/>
            </a:solidFill>
            <a:prstDash val="solid"/>
          </a:ln>
        </p:spPr>
      </p:sp>
      <p:sp>
        <p:nvSpPr>
          <p:cNvPr id="39" name="line-teams-connector">
            <a:extLst xmlns:a="http://schemas.openxmlformats.org/drawingml/2006/main">
              <a:ext uri="{FF2B5EF4-FFF2-40B4-BE49-F238E27FC236}">
                <a16:creationId xmlns:a16="http://schemas.microsoft.com/office/drawing/2014/main" id="{D8389DDB-EB1E-4704-B805-7D572DAC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762500"/>
            <a:ext cx="3381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594"/>
          </a:solidFill>
          <a:ln xmlns:a="http://schemas.openxmlformats.org/drawingml/2006/main" w="0">
            <a:solidFill>
              <a:srgbClr val="4D7594"/>
            </a:solidFill>
            <a:prstDash val="solid"/>
          </a:ln>
        </p:spPr>
      </p:sp>
      <p:sp>
        <p:nvSpPr>
          <p:cNvPr id="40" name="line-aif-provider">
            <a:extLst xmlns:a="http://schemas.openxmlformats.org/drawingml/2006/main">
              <a:ext uri="{FF2B5EF4-FFF2-40B4-BE49-F238E27FC236}">
                <a16:creationId xmlns:a16="http://schemas.microsoft.com/office/drawing/2014/main" id="{0D1CDD9B-EF2B-460D-8D8A-4F42D864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619750"/>
            <a:ext cx="3381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0">
            <a:solidFill>
              <a:srgbClr val="38D200"/>
            </a:solidFill>
            <a:prstDash val="solid"/>
          </a:ln>
        </p:spPr>
      </p:sp>
      <p:sp>
        <p:nvSpPr>
          <p:cNvPr id="41" name="line-ado-connector">
            <a:extLst xmlns:a="http://schemas.openxmlformats.org/drawingml/2006/main">
              <a:ext uri="{FF2B5EF4-FFF2-40B4-BE49-F238E27FC236}">
                <a16:creationId xmlns:a16="http://schemas.microsoft.com/office/drawing/2014/main" id="{C45DAD9C-6C6A-4AF2-BA0F-43C0C46E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705600"/>
            <a:ext cx="3381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594"/>
          </a:solidFill>
          <a:ln xmlns:a="http://schemas.openxmlformats.org/drawingml/2006/main" w="0">
            <a:solidFill>
              <a:srgbClr val="4D7594"/>
            </a:solidFill>
            <a:prstDash val="solid"/>
          </a:ln>
        </p:spPr>
      </p:sp>
      <p:sp>
        <p:nvSpPr>
          <p:cNvPr id="42" name="line-ado-split">
            <a:extLst xmlns:a="http://schemas.openxmlformats.org/drawingml/2006/main">
              <a:ext uri="{FF2B5EF4-FFF2-40B4-BE49-F238E27FC236}">
                <a16:creationId xmlns:a16="http://schemas.microsoft.com/office/drawing/2014/main" id="{BC343BDB-6D61-4C31-B565-FD7F52F7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6705600"/>
            <a:ext cx="285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594"/>
          </a:solidFill>
          <a:ln xmlns:a="http://schemas.openxmlformats.org/drawingml/2006/main" w="0">
            <a:solidFill>
              <a:srgbClr val="4D7594"/>
            </a:solidFill>
            <a:prstDash val="solid"/>
          </a:ln>
        </p:spPr>
      </p:sp>
      <p:sp>
        <p:nvSpPr>
          <p:cNvPr id="43" name="line-azure-boards">
            <a:extLst xmlns:a="http://schemas.openxmlformats.org/drawingml/2006/main">
              <a:ext uri="{FF2B5EF4-FFF2-40B4-BE49-F238E27FC236}">
                <a16:creationId xmlns:a16="http://schemas.microsoft.com/office/drawing/2014/main" id="{2B08F373-B06E-42A8-94D0-2334BE4F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3342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594"/>
          </a:solidFill>
          <a:ln xmlns:a="http://schemas.openxmlformats.org/drawingml/2006/main" w="0">
            <a:solidFill>
              <a:srgbClr val="4D7594"/>
            </a:solidFill>
            <a:prstDash val="solid"/>
          </a:ln>
        </p:spPr>
      </p:sp>
      <p:sp>
        <p:nvSpPr>
          <p:cNvPr id="44" name="line-backend-database">
            <a:extLst xmlns:a="http://schemas.openxmlformats.org/drawingml/2006/main">
              <a:ext uri="{FF2B5EF4-FFF2-40B4-BE49-F238E27FC236}">
                <a16:creationId xmlns:a16="http://schemas.microsoft.com/office/drawing/2014/main" id="{E57358F5-FCC9-464B-AB3F-A46C4B1C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857875"/>
            <a:ext cx="285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1E0"/>
          </a:solidFill>
          <a:ln xmlns:a="http://schemas.openxmlformats.org/drawingml/2006/main" w="0">
            <a:solidFill>
              <a:srgbClr val="00A1E0"/>
            </a:solidFill>
            <a:prstDash val="solid"/>
          </a:ln>
        </p:spPr>
      </p:sp>
      <p:sp>
        <p:nvSpPr>
          <p:cNvPr id="45" name="service-bench-boundary">
            <a:extLst xmlns:a="http://schemas.openxmlformats.org/drawingml/2006/main">
              <a:ext uri="{FF2B5EF4-FFF2-40B4-BE49-F238E27FC236}">
                <a16:creationId xmlns:a16="http://schemas.microsoft.com/office/drawing/2014/main" id="{547E9C70-976B-4706-824B-D7EF7B5B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857500" cy="4524375"/>
          </a:xfrm>
          <a:prstGeom xmlns:a="http://schemas.openxmlformats.org/drawingml/2006/main" prst="roundRect">
            <a:avLst>
              <a:gd name="adj" fmla="val 4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0473EA"/>
            </a:solidFill>
            <a:prstDash val="dash"/>
          </a:ln>
        </p:spPr>
      </p:sp>
      <p:sp>
        <p:nvSpPr>
          <p:cNvPr id="46" name="ske-boundary">
            <a:extLst xmlns:a="http://schemas.openxmlformats.org/drawingml/2006/main">
              <a:ext uri="{FF2B5EF4-FFF2-40B4-BE49-F238E27FC236}">
                <a16:creationId xmlns:a16="http://schemas.microsoft.com/office/drawing/2014/main" id="{8F3A6DB0-0741-4CE8-AFA9-94A6E9C0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0375"/>
            <a:ext cx="4095750" cy="4857750"/>
          </a:xfrm>
          <a:prstGeom xmlns:a="http://schemas.openxmlformats.org/drawingml/2006/main" prst="roundRect">
            <a:avLst>
              <a:gd name="adj" fmla="val 279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38D200"/>
            </a:solidFill>
            <a:prstDash val="dash"/>
          </a:ln>
        </p:spPr>
      </p:sp>
      <p:sp>
        <p:nvSpPr>
          <p:cNvPr id="47" name="enterprise-boundary">
            <a:extLst xmlns:a="http://schemas.openxmlformats.org/drawingml/2006/main">
              <a:ext uri="{FF2B5EF4-FFF2-40B4-BE49-F238E27FC236}">
                <a16:creationId xmlns:a16="http://schemas.microsoft.com/office/drawing/2014/main" id="{818DECB8-EF08-40AA-A1E0-3524E9E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000375"/>
            <a:ext cx="6096000" cy="4857750"/>
          </a:xfrm>
          <a:prstGeom xmlns:a="http://schemas.openxmlformats.org/drawingml/2006/main" prst="roundRect">
            <a:avLst>
              <a:gd name="adj" fmla="val 235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4D7594"/>
            </a:solidFill>
            <a:prstDash val="dash"/>
          </a:ln>
        </p:spPr>
      </p:sp>
      <p:sp>
        <p:nvSpPr>
          <p:cNvPr id="48" name="domain-architect">
            <a:extLst xmlns:a="http://schemas.openxmlformats.org/drawingml/2006/main">
              <a:ext uri="{FF2B5EF4-FFF2-40B4-BE49-F238E27FC236}">
                <a16:creationId xmlns:a16="http://schemas.microsoft.com/office/drawing/2014/main" id="{2165611C-7E2E-4649-917A-65AAF20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190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9" name="domain-architect-title">
            <a:extLst xmlns:a="http://schemas.openxmlformats.org/drawingml/2006/main">
              <a:ext uri="{FF2B5EF4-FFF2-40B4-BE49-F238E27FC236}">
                <a16:creationId xmlns:a16="http://schemas.microsoft.com/office/drawing/2014/main" id="{47FE9CCA-A966-4D1A-975C-A6F356CC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1D33"/>
                </a:solidFill>
              </a:defRPr>
            </a:pPr>
            <a:r>
              <a:rPr sz="1425" b="1">
                <a:solidFill>
                  <a:srgbClr val="061D33"/>
                </a:solidFill>
              </a:rPr>
              <a:t>Domain Architect</a:t>
            </a:r>
          </a:p>
        </p:txBody>
      </p:sp>
      <p:sp>
        <p:nvSpPr>
          <p:cNvPr id="50" name="domain-architect-detail">
            <a:extLst xmlns:a="http://schemas.openxmlformats.org/drawingml/2006/main">
              <a:ext uri="{FF2B5EF4-FFF2-40B4-BE49-F238E27FC236}">
                <a16:creationId xmlns:a16="http://schemas.microsoft.com/office/drawing/2014/main" id="{B5022F5C-A547-49E3-9EDC-9972B852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66074"/>
                </a:solidFill>
              </a:defRPr>
            </a:pPr>
            <a:r>
              <a:rPr sz="1050" b="0">
                <a:solidFill>
                  <a:srgbClr val="466074"/>
                </a:solidFill>
              </a:rPr>
              <a:t>Project team · Human reviewer</a:t>
            </a:r>
          </a:p>
        </p:txBody>
      </p:sp>
      <p:sp>
        <p:nvSpPr>
          <p:cNvPr id="51" name="service-bench-label">
            <a:extLst xmlns:a="http://schemas.openxmlformats.org/drawingml/2006/main">
              <a:ext uri="{FF2B5EF4-FFF2-40B4-BE49-F238E27FC236}">
                <a16:creationId xmlns:a16="http://schemas.microsoft.com/office/drawing/2014/main" id="{17B12B91-7682-4F4B-9A46-F590972B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FC3FF"/>
                </a:solidFill>
              </a:defRPr>
            </a:pPr>
            <a:r>
              <a:rPr sz="1125" b="1">
                <a:solidFill>
                  <a:srgbClr val="7FC3FF"/>
                </a:solidFill>
              </a:rPr>
              <a:t>SERVICE BENCH</a:t>
            </a:r>
          </a:p>
        </p:txBody>
      </p:sp>
      <p:sp>
        <p:nvSpPr>
          <p:cNvPr id="52" name="agc-frontend">
            <a:extLst xmlns:a="http://schemas.openxmlformats.org/drawingml/2006/main">
              <a:ext uri="{FF2B5EF4-FFF2-40B4-BE49-F238E27FC236}">
                <a16:creationId xmlns:a16="http://schemas.microsoft.com/office/drawing/2014/main" id="{F1E28D8E-8F52-48DD-BBB7-333425F4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8625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66C3"/>
          </a:solidFill>
          <a:ln xmlns:a="http://schemas.openxmlformats.org/drawingml/2006/main" w="14288">
            <a:solidFill>
              <a:srgbClr val="58A8F4"/>
            </a:solidFill>
            <a:prstDash val="solid"/>
          </a:ln>
        </p:spPr>
      </p:sp>
      <p:sp>
        <p:nvSpPr>
          <p:cNvPr id="53" name="agc-frontend-title">
            <a:extLst xmlns:a="http://schemas.openxmlformats.org/drawingml/2006/main">
              <a:ext uri="{FF2B5EF4-FFF2-40B4-BE49-F238E27FC236}">
                <a16:creationId xmlns:a16="http://schemas.microsoft.com/office/drawing/2014/main" id="{85527C92-C434-4E82-A913-BFDA45B6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8150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AGC Front End</a:t>
            </a:r>
          </a:p>
        </p:txBody>
      </p:sp>
      <p:sp>
        <p:nvSpPr>
          <p:cNvPr id="54" name="agc-frontend-detail">
            <a:extLst xmlns:a="http://schemas.openxmlformats.org/drawingml/2006/main">
              <a:ext uri="{FF2B5EF4-FFF2-40B4-BE49-F238E27FC236}">
                <a16:creationId xmlns:a16="http://schemas.microsoft.com/office/drawing/2014/main" id="{5DABEC21-0FBF-4AE1-8C33-F808A05B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67250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8ECFF"/>
                </a:solidFill>
              </a:defRPr>
            </a:pPr>
            <a:r>
              <a:rPr sz="1050" b="0">
                <a:solidFill>
                  <a:srgbClr val="D8ECFF"/>
                </a:solidFill>
              </a:rPr>
              <a:t>Four routed stages</a:t>
            </a:r>
          </a:p>
          <a:p xmlns:a="http://schemas.openxmlformats.org/drawingml/2006/main">
            <a:pPr algn="ctr">
              <a:defRPr sz="1050" b="0">
                <a:solidFill>
                  <a:srgbClr val="D8ECFF"/>
                </a:solidFill>
              </a:defRPr>
            </a:pPr>
            <a:r>
              <a:rPr sz="1050" b="0">
                <a:solidFill>
                  <a:srgbClr val="D8ECFF"/>
                </a:solidFill>
              </a:rPr>
              <a:t>Human review and confirmation</a:t>
            </a:r>
          </a:p>
        </p:txBody>
      </p:sp>
      <p:sp>
        <p:nvSpPr>
          <p:cNvPr id="55" name="ske-label">
            <a:extLst xmlns:a="http://schemas.openxmlformats.org/drawingml/2006/main">
              <a:ext uri="{FF2B5EF4-FFF2-40B4-BE49-F238E27FC236}">
                <a16:creationId xmlns:a16="http://schemas.microsoft.com/office/drawing/2014/main" id="{3E9EEA6A-DE4C-477B-8E67-994B7B36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E880"/>
                </a:solidFill>
              </a:defRPr>
            </a:pPr>
            <a:r>
              <a:rPr sz="1125" b="1">
                <a:solidFill>
                  <a:srgbClr val="9BE880"/>
                </a:solidFill>
              </a:rPr>
              <a:t>SKE</a:t>
            </a:r>
          </a:p>
        </p:txBody>
      </p:sp>
      <p:sp>
        <p:nvSpPr>
          <p:cNvPr id="56" name="agc-backend">
            <a:extLst xmlns:a="http://schemas.openxmlformats.org/drawingml/2006/main">
              <a:ext uri="{FF2B5EF4-FFF2-40B4-BE49-F238E27FC236}">
                <a16:creationId xmlns:a16="http://schemas.microsoft.com/office/drawing/2014/main" id="{EE055A31-C3EC-4FDA-9D5F-3D27FB0D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43375"/>
            <a:ext cx="1619250" cy="1714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23A59"/>
          </a:solidFill>
          <a:ln xmlns:a="http://schemas.openxmlformats.org/drawingml/2006/main" w="14288">
            <a:solidFill>
              <a:srgbClr val="38D200"/>
            </a:solidFill>
            <a:prstDash val="solid"/>
          </a:ln>
        </p:spPr>
      </p:sp>
      <p:sp>
        <p:nvSpPr>
          <p:cNvPr id="57" name="agc-backend-title">
            <a:extLst xmlns:a="http://schemas.openxmlformats.org/drawingml/2006/main">
              <a:ext uri="{FF2B5EF4-FFF2-40B4-BE49-F238E27FC236}">
                <a16:creationId xmlns:a16="http://schemas.microsoft.com/office/drawing/2014/main" id="{E9385B32-F142-419D-B0D0-E12B7C0E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2386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AGC Backend API</a:t>
            </a:r>
          </a:p>
        </p:txBody>
      </p:sp>
      <p:sp>
        <p:nvSpPr>
          <p:cNvPr id="58" name="agc-backend-detail">
            <a:extLst xmlns:a="http://schemas.openxmlformats.org/drawingml/2006/main">
              <a:ext uri="{FF2B5EF4-FFF2-40B4-BE49-F238E27FC236}">
                <a16:creationId xmlns:a16="http://schemas.microsoft.com/office/drawing/2014/main" id="{89D50660-B5E3-429C-B427-3C4E4495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24375"/>
            <a:ext cx="1390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9C8D5"/>
                </a:solidFill>
              </a:defRPr>
            </a:pPr>
            <a:r>
              <a:rPr sz="975" b="0">
                <a:solidFill>
                  <a:srgbClr val="B9C8D5"/>
                </a:solidFill>
              </a:rPr>
              <a:t>Drafting · governance</a:t>
            </a:r>
          </a:p>
          <a:p xmlns:a="http://schemas.openxmlformats.org/drawingml/2006/main">
            <a:pPr algn="ctr">
              <a:defRPr sz="975" b="0">
                <a:solidFill>
                  <a:srgbClr val="B9C8D5"/>
                </a:solidFill>
              </a:defRPr>
            </a:pPr>
            <a:r>
              <a:rPr sz="975" b="0">
                <a:solidFill>
                  <a:srgbClr val="B9C8D5"/>
                </a:solidFill>
              </a:rPr>
              <a:t>Validation · output generation</a:t>
            </a:r>
          </a:p>
        </p:txBody>
      </p:sp>
      <p:sp>
        <p:nvSpPr>
          <p:cNvPr id="59" name="integration-adapters-label">
            <a:extLst xmlns:a="http://schemas.openxmlformats.org/drawingml/2006/main">
              <a:ext uri="{FF2B5EF4-FFF2-40B4-BE49-F238E27FC236}">
                <a16:creationId xmlns:a16="http://schemas.microsoft.com/office/drawing/2014/main" id="{DFC28F8D-AB62-4106-98F7-FAE0C3B5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E880"/>
                </a:solidFill>
              </a:defRPr>
            </a:pPr>
            <a:r>
              <a:rPr sz="975" b="1">
                <a:solidFill>
                  <a:srgbClr val="9BE880"/>
                </a:solidFill>
              </a:rPr>
              <a:t>INTEGRATION ADAPTERS</a:t>
            </a:r>
          </a:p>
        </p:txBody>
      </p:sp>
      <p:sp>
        <p:nvSpPr>
          <p:cNvPr id="60" name="confluence-connector">
            <a:extLst xmlns:a="http://schemas.openxmlformats.org/drawingml/2006/main">
              <a:ext uri="{FF2B5EF4-FFF2-40B4-BE49-F238E27FC236}">
                <a16:creationId xmlns:a16="http://schemas.microsoft.com/office/drawing/2014/main" id="{928F0CAE-AF9A-4924-B9BD-18233A49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15716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E4A"/>
          </a:solidFill>
          <a:ln xmlns:a="http://schemas.openxmlformats.org/drawingml/2006/main" w="14288">
            <a:solidFill>
              <a:srgbClr val="4D7594"/>
            </a:solidFill>
            <a:prstDash val="solid"/>
          </a:ln>
        </p:spPr>
      </p:sp>
      <p:sp>
        <p:nvSpPr>
          <p:cNvPr id="61" name="confluence-connector-title">
            <a:extLst xmlns:a="http://schemas.openxmlformats.org/drawingml/2006/main">
              <a:ext uri="{FF2B5EF4-FFF2-40B4-BE49-F238E27FC236}">
                <a16:creationId xmlns:a16="http://schemas.microsoft.com/office/drawing/2014/main" id="{C3202B62-631C-4C72-8106-4BE58B3D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1419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Confluence Connector</a:t>
            </a:r>
          </a:p>
        </p:txBody>
      </p:sp>
      <p:sp>
        <p:nvSpPr>
          <p:cNvPr id="62" name="confluence-connector-detail">
            <a:extLst xmlns:a="http://schemas.openxmlformats.org/drawingml/2006/main">
              <a:ext uri="{FF2B5EF4-FFF2-40B4-BE49-F238E27FC236}">
                <a16:creationId xmlns:a16="http://schemas.microsoft.com/office/drawing/2014/main" id="{74352AB0-C64C-45C5-BC74-EE4034E1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86200"/>
            <a:ext cx="1419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9C8D5"/>
                </a:solidFill>
              </a:defRPr>
            </a:pPr>
            <a:r>
              <a:rPr sz="825" b="0">
                <a:solidFill>
                  <a:srgbClr val="B9C8D5"/>
                </a:solidFill>
              </a:rPr>
              <a:t>SI content</a:t>
            </a:r>
          </a:p>
        </p:txBody>
      </p:sp>
      <p:sp>
        <p:nvSpPr>
          <p:cNvPr id="63" name="teams-connector">
            <a:extLst xmlns:a="http://schemas.openxmlformats.org/drawingml/2006/main">
              <a:ext uri="{FF2B5EF4-FFF2-40B4-BE49-F238E27FC236}">
                <a16:creationId xmlns:a16="http://schemas.microsoft.com/office/drawing/2014/main" id="{8EB5F8B9-0834-4503-BE63-BB69579C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15716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E4A"/>
          </a:solidFill>
          <a:ln xmlns:a="http://schemas.openxmlformats.org/drawingml/2006/main" w="14288">
            <a:solidFill>
              <a:srgbClr val="4D7594"/>
            </a:solidFill>
            <a:prstDash val="solid"/>
          </a:ln>
        </p:spPr>
      </p:sp>
      <p:sp>
        <p:nvSpPr>
          <p:cNvPr id="64" name="teams-connector-title">
            <a:extLst xmlns:a="http://schemas.openxmlformats.org/drawingml/2006/main">
              <a:ext uri="{FF2B5EF4-FFF2-40B4-BE49-F238E27FC236}">
                <a16:creationId xmlns:a16="http://schemas.microsoft.com/office/drawing/2014/main" id="{23778446-D249-4505-A192-881032E6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533900"/>
            <a:ext cx="1419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Teams Connector</a:t>
            </a:r>
          </a:p>
        </p:txBody>
      </p:sp>
      <p:sp>
        <p:nvSpPr>
          <p:cNvPr id="65" name="teams-connector-detail">
            <a:extLst xmlns:a="http://schemas.openxmlformats.org/drawingml/2006/main">
              <a:ext uri="{FF2B5EF4-FFF2-40B4-BE49-F238E27FC236}">
                <a16:creationId xmlns:a16="http://schemas.microsoft.com/office/drawing/2014/main" id="{C693F64C-80A4-49AB-B871-AAB43B05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43450"/>
            <a:ext cx="1419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9C8D5"/>
                </a:solidFill>
              </a:defRPr>
            </a:pPr>
            <a:r>
              <a:rPr sz="825" b="0">
                <a:solidFill>
                  <a:srgbClr val="B9C8D5"/>
                </a:solidFill>
              </a:rPr>
              <a:t>Review transcripts</a:t>
            </a:r>
          </a:p>
        </p:txBody>
      </p:sp>
      <p:sp>
        <p:nvSpPr>
          <p:cNvPr id="66" name="aif-provider">
            <a:extLst xmlns:a="http://schemas.openxmlformats.org/drawingml/2006/main">
              <a:ext uri="{FF2B5EF4-FFF2-40B4-BE49-F238E27FC236}">
                <a16:creationId xmlns:a16="http://schemas.microsoft.com/office/drawing/2014/main" id="{1DD8DDB3-BC94-4727-B450-FE59B74D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53050"/>
            <a:ext cx="15716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E4A"/>
          </a:solidFill>
          <a:ln xmlns:a="http://schemas.openxmlformats.org/drawingml/2006/main" w="14288">
            <a:solidFill>
              <a:srgbClr val="38D200"/>
            </a:solidFill>
            <a:prstDash val="solid"/>
          </a:ln>
        </p:spPr>
      </p:sp>
      <p:sp>
        <p:nvSpPr>
          <p:cNvPr id="67" name="aif-provider-title">
            <a:extLst xmlns:a="http://schemas.openxmlformats.org/drawingml/2006/main">
              <a:ext uri="{FF2B5EF4-FFF2-40B4-BE49-F238E27FC236}">
                <a16:creationId xmlns:a16="http://schemas.microsoft.com/office/drawing/2014/main" id="{9B8A38DF-7C54-4C0A-A0A0-6C19FEB7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91150"/>
            <a:ext cx="1419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BE880"/>
                </a:solidFill>
              </a:defRPr>
            </a:pPr>
            <a:r>
              <a:rPr sz="1050" b="1">
                <a:solidFill>
                  <a:srgbClr val="9BE880"/>
                </a:solidFill>
              </a:rPr>
              <a:t>AIF LLM Provider</a:t>
            </a:r>
          </a:p>
        </p:txBody>
      </p:sp>
      <p:sp>
        <p:nvSpPr>
          <p:cNvPr id="68" name="aif-provider-detail">
            <a:extLst xmlns:a="http://schemas.openxmlformats.org/drawingml/2006/main">
              <a:ext uri="{FF2B5EF4-FFF2-40B4-BE49-F238E27FC236}">
                <a16:creationId xmlns:a16="http://schemas.microsoft.com/office/drawing/2014/main" id="{4CC13163-0353-4E70-8F22-F6D2E88D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600700"/>
            <a:ext cx="1419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9C8D5"/>
                </a:solidFill>
              </a:defRPr>
            </a:pPr>
            <a:r>
              <a:rPr sz="825" b="0">
                <a:solidFill>
                  <a:srgbClr val="B9C8D5"/>
                </a:solidFill>
              </a:rPr>
              <a:t>Structured AI requests</a:t>
            </a:r>
          </a:p>
        </p:txBody>
      </p:sp>
      <p:sp>
        <p:nvSpPr>
          <p:cNvPr id="69" name="azure-devops-connector">
            <a:extLst xmlns:a="http://schemas.openxmlformats.org/drawingml/2006/main">
              <a:ext uri="{FF2B5EF4-FFF2-40B4-BE49-F238E27FC236}">
                <a16:creationId xmlns:a16="http://schemas.microsoft.com/office/drawing/2014/main" id="{A95B5994-1CAA-4712-8FAB-B76E1586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15716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B2E4A"/>
          </a:solidFill>
          <a:ln xmlns:a="http://schemas.openxmlformats.org/drawingml/2006/main" w="14288">
            <a:solidFill>
              <a:srgbClr val="4D7594"/>
            </a:solidFill>
            <a:prstDash val="solid"/>
          </a:ln>
        </p:spPr>
      </p:sp>
      <p:sp>
        <p:nvSpPr>
          <p:cNvPr id="70" name="azure-devops-connector-title">
            <a:extLst xmlns:a="http://schemas.openxmlformats.org/drawingml/2006/main">
              <a:ext uri="{FF2B5EF4-FFF2-40B4-BE49-F238E27FC236}">
                <a16:creationId xmlns:a16="http://schemas.microsoft.com/office/drawing/2014/main" id="{656614EF-4A0D-4F41-87E0-47892CD0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477000"/>
            <a:ext cx="1419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Azure DevOps</a:t>
            </a:r>
          </a:p>
        </p:txBody>
      </p:sp>
      <p:sp>
        <p:nvSpPr>
          <p:cNvPr id="71" name="azure-devops-connector-detail">
            <a:extLst xmlns:a="http://schemas.openxmlformats.org/drawingml/2006/main">
              <a:ext uri="{FF2B5EF4-FFF2-40B4-BE49-F238E27FC236}">
                <a16:creationId xmlns:a16="http://schemas.microsoft.com/office/drawing/2014/main" id="{0CB4B223-D7B8-4FF5-86CE-B323DA7B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686550"/>
            <a:ext cx="1419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9C8D5"/>
                </a:solidFill>
              </a:defRPr>
            </a:pPr>
            <a:r>
              <a:rPr sz="825" b="0">
                <a:solidFill>
                  <a:srgbClr val="B9C8D5"/>
                </a:solidFill>
              </a:rPr>
              <a:t>Repos + Boards connector</a:t>
            </a:r>
          </a:p>
        </p:txBody>
      </p:sp>
      <p:sp>
        <p:nvSpPr>
          <p:cNvPr id="72" name="database">
            <a:extLst xmlns:a="http://schemas.openxmlformats.org/drawingml/2006/main">
              <a:ext uri="{FF2B5EF4-FFF2-40B4-BE49-F238E27FC236}">
                <a16:creationId xmlns:a16="http://schemas.microsoft.com/office/drawing/2014/main" id="{7BB4E645-CF56-4FE3-9BC2-6E547627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1912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73F59"/>
          </a:solidFill>
          <a:ln xmlns:a="http://schemas.openxmlformats.org/drawingml/2006/main" w="14288">
            <a:solidFill>
              <a:srgbClr val="00A1E0"/>
            </a:solidFill>
            <a:prstDash val="solid"/>
          </a:ln>
        </p:spPr>
      </p:sp>
      <p:sp>
        <p:nvSpPr>
          <p:cNvPr id="73" name="database-title">
            <a:extLst xmlns:a="http://schemas.openxmlformats.org/drawingml/2006/main">
              <a:ext uri="{FF2B5EF4-FFF2-40B4-BE49-F238E27FC236}">
                <a16:creationId xmlns:a16="http://schemas.microsoft.com/office/drawing/2014/main" id="{F2BC89B5-064C-47E4-A3FB-EEA2D1EA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286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74" name="database-detail">
            <a:extLst xmlns:a="http://schemas.openxmlformats.org/drawingml/2006/main">
              <a:ext uri="{FF2B5EF4-FFF2-40B4-BE49-F238E27FC236}">
                <a16:creationId xmlns:a16="http://schemas.microsoft.com/office/drawing/2014/main" id="{B4C405A7-5327-469C-953C-C89697E2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657225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9C8D5"/>
                </a:solidFill>
              </a:defRPr>
            </a:pPr>
            <a:r>
              <a:rPr sz="900" b="0">
                <a:solidFill>
                  <a:srgbClr val="B9C8D5"/>
                </a:solidFill>
              </a:rPr>
              <a:t>Governance state</a:t>
            </a:r>
          </a:p>
          <a:p xmlns:a="http://schemas.openxmlformats.org/drawingml/2006/main">
            <a:pPr algn="ctr">
              <a:defRPr sz="900" b="0">
                <a:solidFill>
                  <a:srgbClr val="B9C8D5"/>
                </a:solidFill>
              </a:defRPr>
            </a:pPr>
            <a:r>
              <a:rPr sz="900" b="0">
                <a:solidFill>
                  <a:srgbClr val="B9C8D5"/>
                </a:solidFill>
              </a:rPr>
              <a:t>and audit history</a:t>
            </a:r>
          </a:p>
        </p:txBody>
      </p:sp>
      <p:sp>
        <p:nvSpPr>
          <p:cNvPr id="75" name="enterprise-label">
            <a:extLst xmlns:a="http://schemas.openxmlformats.org/drawingml/2006/main">
              <a:ext uri="{FF2B5EF4-FFF2-40B4-BE49-F238E27FC236}">
                <a16:creationId xmlns:a16="http://schemas.microsoft.com/office/drawing/2014/main" id="{376EC1A6-60EF-4954-8A99-211532A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FC8DA"/>
                </a:solidFill>
              </a:defRPr>
            </a:pPr>
            <a:r>
              <a:rPr sz="1125" b="1">
                <a:solidFill>
                  <a:srgbClr val="AFC8DA"/>
                </a:solidFill>
              </a:rPr>
              <a:t>ENTERPRISE SERVICES</a:t>
            </a:r>
          </a:p>
        </p:txBody>
      </p:sp>
      <p:sp>
        <p:nvSpPr>
          <p:cNvPr id="76" name="confluence-api">
            <a:extLst xmlns:a="http://schemas.openxmlformats.org/drawingml/2006/main">
              <a:ext uri="{FF2B5EF4-FFF2-40B4-BE49-F238E27FC236}">
                <a16:creationId xmlns:a16="http://schemas.microsoft.com/office/drawing/2014/main" id="{66E3FECC-721C-4E99-90F0-8A180878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3524250"/>
            <a:ext cx="3095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23A59"/>
          </a:solidFill>
          <a:ln xmlns:a="http://schemas.openxmlformats.org/drawingml/2006/main" w="14288">
            <a:solidFill>
              <a:srgbClr val="4D7594"/>
            </a:solidFill>
            <a:prstDash val="solid"/>
          </a:ln>
        </p:spPr>
      </p:sp>
      <p:sp>
        <p:nvSpPr>
          <p:cNvPr id="77" name="confluence-api-title">
            <a:extLst xmlns:a="http://schemas.openxmlformats.org/drawingml/2006/main">
              <a:ext uri="{FF2B5EF4-FFF2-40B4-BE49-F238E27FC236}">
                <a16:creationId xmlns:a16="http://schemas.microsoft.com/office/drawing/2014/main" id="{042B68F4-F22A-4D85-BE03-106C0770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61950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Confluence API</a:t>
            </a:r>
          </a:p>
        </p:txBody>
      </p:sp>
      <p:sp>
        <p:nvSpPr>
          <p:cNvPr id="78" name="confluence-api-detail">
            <a:extLst xmlns:a="http://schemas.openxmlformats.org/drawingml/2006/main">
              <a:ext uri="{FF2B5EF4-FFF2-40B4-BE49-F238E27FC236}">
                <a16:creationId xmlns:a16="http://schemas.microsoft.com/office/drawing/2014/main" id="{2A8EF45B-1E29-428A-95D5-DCB76E92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9052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8D5"/>
                </a:solidFill>
              </a:defRPr>
            </a:pPr>
            <a:r>
              <a:rPr sz="1050" b="0">
                <a:solidFill>
                  <a:srgbClr val="B9C8D5"/>
                </a:solidFill>
              </a:rPr>
              <a:t>Retrieve SI content · publish confirmed record</a:t>
            </a:r>
          </a:p>
        </p:txBody>
      </p:sp>
      <p:sp>
        <p:nvSpPr>
          <p:cNvPr id="79" name="teams-api">
            <a:extLst xmlns:a="http://schemas.openxmlformats.org/drawingml/2006/main">
              <a:ext uri="{FF2B5EF4-FFF2-40B4-BE49-F238E27FC236}">
                <a16:creationId xmlns:a16="http://schemas.microsoft.com/office/drawing/2014/main" id="{13D58D9D-F418-42CC-B2AC-B7AF1A3F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381500"/>
            <a:ext cx="3095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23A59"/>
          </a:solidFill>
          <a:ln xmlns:a="http://schemas.openxmlformats.org/drawingml/2006/main" w="14288">
            <a:solidFill>
              <a:srgbClr val="4D7594"/>
            </a:solidFill>
            <a:prstDash val="solid"/>
          </a:ln>
        </p:spPr>
      </p:sp>
      <p:sp>
        <p:nvSpPr>
          <p:cNvPr id="80" name="teams-api-title">
            <a:extLst xmlns:a="http://schemas.openxmlformats.org/drawingml/2006/main">
              <a:ext uri="{FF2B5EF4-FFF2-40B4-BE49-F238E27FC236}">
                <a16:creationId xmlns:a16="http://schemas.microsoft.com/office/drawing/2014/main" id="{64697211-42A7-41AC-BCD3-782E85B2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47675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Teams API</a:t>
            </a:r>
          </a:p>
        </p:txBody>
      </p:sp>
      <p:sp>
        <p:nvSpPr>
          <p:cNvPr id="81" name="teams-api-detail">
            <a:extLst xmlns:a="http://schemas.openxmlformats.org/drawingml/2006/main">
              <a:ext uri="{FF2B5EF4-FFF2-40B4-BE49-F238E27FC236}">
                <a16:creationId xmlns:a16="http://schemas.microsoft.com/office/drawing/2014/main" id="{3FCCD781-84BE-4B0F-A51E-FB804812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476250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8D5"/>
                </a:solidFill>
              </a:defRPr>
            </a:pPr>
            <a:r>
              <a:rPr sz="1050" b="0">
                <a:solidFill>
                  <a:srgbClr val="B9C8D5"/>
                </a:solidFill>
              </a:rPr>
              <a:t>Retrieve permitted review transcript</a:t>
            </a:r>
          </a:p>
        </p:txBody>
      </p:sp>
      <p:sp>
        <p:nvSpPr>
          <p:cNvPr id="82" name="aif">
            <a:extLst xmlns:a="http://schemas.openxmlformats.org/drawingml/2006/main">
              <a:ext uri="{FF2B5EF4-FFF2-40B4-BE49-F238E27FC236}">
                <a16:creationId xmlns:a16="http://schemas.microsoft.com/office/drawing/2014/main" id="{A38CE483-7B09-464A-BB1F-88A98EE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238750"/>
            <a:ext cx="3095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23A59"/>
          </a:solidFill>
          <a:ln xmlns:a="http://schemas.openxmlformats.org/drawingml/2006/main" w="14288">
            <a:solidFill>
              <a:srgbClr val="38D200"/>
            </a:solidFill>
            <a:prstDash val="solid"/>
          </a:ln>
        </p:spPr>
      </p:sp>
      <p:sp>
        <p:nvSpPr>
          <p:cNvPr id="83" name="aif-title">
            <a:extLst xmlns:a="http://schemas.openxmlformats.org/drawingml/2006/main">
              <a:ext uri="{FF2B5EF4-FFF2-40B4-BE49-F238E27FC236}">
                <a16:creationId xmlns:a16="http://schemas.microsoft.com/office/drawing/2014/main" id="{4F3CB13D-9886-49BF-96B9-8CC8EAD7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334000"/>
            <a:ext cx="2867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BE880"/>
                </a:solidFill>
              </a:defRPr>
            </a:pPr>
            <a:r>
              <a:rPr sz="1425" b="1">
                <a:solidFill>
                  <a:srgbClr val="9BE880"/>
                </a:solidFill>
              </a:rPr>
              <a:t>AI Factory (AIF)</a:t>
            </a:r>
          </a:p>
        </p:txBody>
      </p:sp>
      <p:sp>
        <p:nvSpPr>
          <p:cNvPr id="84" name="aif-detail">
            <a:extLst xmlns:a="http://schemas.openxmlformats.org/drawingml/2006/main">
              <a:ext uri="{FF2B5EF4-FFF2-40B4-BE49-F238E27FC236}">
                <a16:creationId xmlns:a16="http://schemas.microsoft.com/office/drawing/2014/main" id="{431F89B0-87A6-45A8-A3C4-02BE3615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6197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9C8D5"/>
                </a:solidFill>
              </a:defRPr>
            </a:pPr>
            <a:r>
              <a:rPr sz="1050" b="0">
                <a:solidFill>
                  <a:srgbClr val="B9C8D5"/>
                </a:solidFill>
              </a:rPr>
              <a:t>Send scoped context · receive structured result</a:t>
            </a:r>
          </a:p>
        </p:txBody>
      </p:sp>
      <p:sp>
        <p:nvSpPr>
          <p:cNvPr id="85" name="azure-devops-boundary">
            <a:extLst xmlns:a="http://schemas.openxmlformats.org/drawingml/2006/main">
              <a:ext uri="{FF2B5EF4-FFF2-40B4-BE49-F238E27FC236}">
                <a16:creationId xmlns:a16="http://schemas.microsoft.com/office/drawing/2014/main" id="{19F7717C-A377-46FE-B4BF-7EA9A9EB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6096000"/>
            <a:ext cx="3524250" cy="1619250"/>
          </a:xfrm>
          <a:prstGeom xmlns:a="http://schemas.openxmlformats.org/drawingml/2006/main" prst="roundRect">
            <a:avLst>
              <a:gd name="adj" fmla="val 705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FC3FF"/>
            </a:solidFill>
            <a:prstDash val="dash"/>
          </a:ln>
        </p:spPr>
      </p:sp>
      <p:sp>
        <p:nvSpPr>
          <p:cNvPr id="86" name="azure-devops-label">
            <a:extLst xmlns:a="http://schemas.openxmlformats.org/drawingml/2006/main">
              <a:ext uri="{FF2B5EF4-FFF2-40B4-BE49-F238E27FC236}">
                <a16:creationId xmlns:a16="http://schemas.microsoft.com/office/drawing/2014/main" id="{D67C0BD4-97E3-45A9-B0D3-E83D0032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6143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FC3FF"/>
                </a:solidFill>
              </a:defRPr>
            </a:pPr>
            <a:r>
              <a:rPr sz="1050" b="1">
                <a:solidFill>
                  <a:srgbClr val="7FC3FF"/>
                </a:solidFill>
              </a:rPr>
              <a:t>AZURE DEVOPS</a:t>
            </a:r>
          </a:p>
        </p:txBody>
      </p:sp>
      <p:sp>
        <p:nvSpPr>
          <p:cNvPr id="87" name="azure-repos-api">
            <a:extLst xmlns:a="http://schemas.openxmlformats.org/drawingml/2006/main">
              <a:ext uri="{FF2B5EF4-FFF2-40B4-BE49-F238E27FC236}">
                <a16:creationId xmlns:a16="http://schemas.microsoft.com/office/drawing/2014/main" id="{0F194AE2-2568-4DB3-9BE9-F698292E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6438900"/>
            <a:ext cx="309562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3A59"/>
          </a:solidFill>
          <a:ln xmlns:a="http://schemas.openxmlformats.org/drawingml/2006/main" w="14288">
            <a:solidFill>
              <a:srgbClr val="4D7594"/>
            </a:solidFill>
            <a:prstDash val="solid"/>
          </a:ln>
        </p:spPr>
      </p:sp>
      <p:sp>
        <p:nvSpPr>
          <p:cNvPr id="88" name="azure-repos-api-title">
            <a:extLst xmlns:a="http://schemas.openxmlformats.org/drawingml/2006/main">
              <a:ext uri="{FF2B5EF4-FFF2-40B4-BE49-F238E27FC236}">
                <a16:creationId xmlns:a16="http://schemas.microsoft.com/office/drawing/2014/main" id="{6870D7D4-D511-4728-82FD-F1E3E12F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6477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Azure Repos API</a:t>
            </a:r>
          </a:p>
        </p:txBody>
      </p:sp>
      <p:sp>
        <p:nvSpPr>
          <p:cNvPr id="89" name="azure-repos-api-detail">
            <a:extLst xmlns:a="http://schemas.openxmlformats.org/drawingml/2006/main">
              <a:ext uri="{FF2B5EF4-FFF2-40B4-BE49-F238E27FC236}">
                <a16:creationId xmlns:a16="http://schemas.microsoft.com/office/drawing/2014/main" id="{B57C4F48-47DB-468D-859A-263B280C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64770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D5"/>
                </a:solidFill>
              </a:defRPr>
            </a:pPr>
            <a:r>
              <a:rPr sz="825" b="0">
                <a:solidFill>
                  <a:srgbClr val="B9C8D5"/>
                </a:solidFill>
              </a:rPr>
              <a:t>Selected repository + branch context</a:t>
            </a:r>
          </a:p>
        </p:txBody>
      </p:sp>
      <p:sp>
        <p:nvSpPr>
          <p:cNvPr id="90" name="azure-boards-api">
            <a:extLst xmlns:a="http://schemas.openxmlformats.org/drawingml/2006/main">
              <a:ext uri="{FF2B5EF4-FFF2-40B4-BE49-F238E27FC236}">
                <a16:creationId xmlns:a16="http://schemas.microsoft.com/office/drawing/2014/main" id="{4E186B03-8488-43D5-A67B-F3CA66B7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067550"/>
            <a:ext cx="3095625" cy="54292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3A59"/>
          </a:solidFill>
          <a:ln xmlns:a="http://schemas.openxmlformats.org/drawingml/2006/main" w="14288">
            <a:solidFill>
              <a:srgbClr val="4D7594"/>
            </a:solidFill>
            <a:prstDash val="solid"/>
          </a:ln>
        </p:spPr>
      </p:sp>
      <p:sp>
        <p:nvSpPr>
          <p:cNvPr id="91" name="azure-boards-api-title">
            <a:extLst xmlns:a="http://schemas.openxmlformats.org/drawingml/2006/main">
              <a:ext uri="{FF2B5EF4-FFF2-40B4-BE49-F238E27FC236}">
                <a16:creationId xmlns:a16="http://schemas.microsoft.com/office/drawing/2014/main" id="{14CF2BA6-21E5-4973-B248-900F2E16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7105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Azure Boards API</a:t>
            </a:r>
          </a:p>
        </p:txBody>
      </p:sp>
      <p:sp>
        <p:nvSpPr>
          <p:cNvPr id="92" name="azure-boards-api-detail">
            <a:extLst xmlns:a="http://schemas.openxmlformats.org/drawingml/2006/main">
              <a:ext uri="{FF2B5EF4-FFF2-40B4-BE49-F238E27FC236}">
                <a16:creationId xmlns:a16="http://schemas.microsoft.com/office/drawing/2014/main" id="{A014291A-D9F2-4437-B0AF-DE35D6F0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7105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B9C8D5"/>
                </a:solidFill>
              </a:defRPr>
            </a:pPr>
            <a:r>
              <a:rPr sz="825" b="0">
                <a:solidFill>
                  <a:srgbClr val="B9C8D5"/>
                </a:solidFill>
              </a:rPr>
              <a:t>Governance metadata + approved work items</a:t>
            </a:r>
          </a:p>
        </p:txBody>
      </p:sp>
      <p:sp>
        <p:nvSpPr>
          <p:cNvPr id="93" name="enterprise-controls">
            <a:extLst xmlns:a="http://schemas.openxmlformats.org/drawingml/2006/main">
              <a:ext uri="{FF2B5EF4-FFF2-40B4-BE49-F238E27FC236}">
                <a16:creationId xmlns:a16="http://schemas.microsoft.com/office/drawing/2014/main" id="{EE7BA25C-DCF3-4C09-8DD7-0F84761E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096250"/>
            <a:ext cx="13811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A263B"/>
          </a:solidFill>
          <a:ln xmlns:a="http://schemas.openxmlformats.org/drawingml/2006/main" w="14288">
            <a:solidFill>
              <a:srgbClr val="4D7594"/>
            </a:solidFill>
            <a:prstDash val="solid"/>
          </a:ln>
        </p:spPr>
      </p:sp>
      <p:sp>
        <p:nvSpPr>
          <p:cNvPr id="94" name="enterprise-controls-title">
            <a:extLst xmlns:a="http://schemas.openxmlformats.org/drawingml/2006/main">
              <a:ext uri="{FF2B5EF4-FFF2-40B4-BE49-F238E27FC236}">
                <a16:creationId xmlns:a16="http://schemas.microsoft.com/office/drawing/2014/main" id="{73C71B53-740E-4D22-A8AA-F4E5A5D4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8191500"/>
            <a:ext cx="1358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Enterprise Controls</a:t>
            </a:r>
          </a:p>
        </p:txBody>
      </p:sp>
      <p:sp>
        <p:nvSpPr>
          <p:cNvPr id="95" name="enterprise-controls-detail">
            <a:extLst xmlns:a="http://schemas.openxmlformats.org/drawingml/2006/main">
              <a:ext uri="{FF2B5EF4-FFF2-40B4-BE49-F238E27FC236}">
                <a16:creationId xmlns:a16="http://schemas.microsoft.com/office/drawing/2014/main" id="{6EB67F66-ACD8-4D73-A101-88548F85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8477250"/>
            <a:ext cx="13582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9C8D5"/>
                </a:solidFill>
              </a:defRPr>
            </a:pPr>
            <a:r>
              <a:rPr sz="975" b="0">
                <a:solidFill>
                  <a:srgbClr val="B9C8D5"/>
                </a:solidFill>
              </a:rPr>
              <a:t>Cross-cutting identity · secrets · audit · monitoring · data policy</a:t>
            </a:r>
          </a:p>
        </p:txBody>
      </p:sp>
      <p:sp>
        <p:nvSpPr>
          <p:cNvPr id="96" name="flow-user-frontend">
            <a:extLst xmlns:a="http://schemas.openxmlformats.org/drawingml/2006/main">
              <a:ext uri="{FF2B5EF4-FFF2-40B4-BE49-F238E27FC236}">
                <a16:creationId xmlns:a16="http://schemas.microsoft.com/office/drawing/2014/main" id="{6DB6ACFE-AA82-4985-AB36-D90A2366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43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FC3FF"/>
                </a:solidFill>
              </a:defRPr>
            </a:pPr>
            <a:r>
              <a:rPr sz="1425" b="1">
                <a:solidFill>
                  <a:srgbClr val="7FC3FF"/>
                </a:solidFill>
              </a:rPr>
              <a:t>↔</a:t>
            </a:r>
          </a:p>
        </p:txBody>
      </p:sp>
      <p:sp>
        <p:nvSpPr>
          <p:cNvPr id="97" name="flow-frontend-backend">
            <a:extLst xmlns:a="http://schemas.openxmlformats.org/drawingml/2006/main">
              <a:ext uri="{FF2B5EF4-FFF2-40B4-BE49-F238E27FC236}">
                <a16:creationId xmlns:a16="http://schemas.microsoft.com/office/drawing/2014/main" id="{433B7686-1320-4FF7-975D-B17E888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43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9BE880"/>
                </a:solidFill>
              </a:defRPr>
            </a:pPr>
            <a:r>
              <a:rPr sz="1425" b="1">
                <a:solidFill>
                  <a:srgbClr val="9BE880"/>
                </a:solidFill>
              </a:rPr>
              <a:t>↔</a:t>
            </a:r>
          </a:p>
        </p:txBody>
      </p:sp>
      <p:sp>
        <p:nvSpPr>
          <p:cNvPr id="98" name="arrow-confluence">
            <a:extLst xmlns:a="http://schemas.openxmlformats.org/drawingml/2006/main">
              <a:ext uri="{FF2B5EF4-FFF2-40B4-BE49-F238E27FC236}">
                <a16:creationId xmlns:a16="http://schemas.microsoft.com/office/drawing/2014/main" id="{A0702FBE-E123-4A8D-A4EB-BE35DB5A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7623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C8D5"/>
                </a:solidFill>
              </a:defRPr>
            </a:pPr>
            <a:r>
              <a:rPr sz="1125" b="1">
                <a:solidFill>
                  <a:srgbClr val="B9C8D5"/>
                </a:solidFill>
              </a:rPr>
              <a:t>↔</a:t>
            </a:r>
          </a:p>
        </p:txBody>
      </p:sp>
      <p:sp>
        <p:nvSpPr>
          <p:cNvPr id="99" name="arrow-teams">
            <a:extLst xmlns:a="http://schemas.openxmlformats.org/drawingml/2006/main">
              <a:ext uri="{FF2B5EF4-FFF2-40B4-BE49-F238E27FC236}">
                <a16:creationId xmlns:a16="http://schemas.microsoft.com/office/drawing/2014/main" id="{9A8FDD58-396F-48EB-A709-F79C4CD3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619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C8D5"/>
                </a:solidFill>
              </a:defRPr>
            </a:pPr>
            <a:r>
              <a:rPr sz="1125" b="1">
                <a:solidFill>
                  <a:srgbClr val="B9C8D5"/>
                </a:solidFill>
              </a:rPr>
              <a:t>↔</a:t>
            </a:r>
          </a:p>
        </p:txBody>
      </p:sp>
      <p:sp>
        <p:nvSpPr>
          <p:cNvPr id="100" name="arrow-aif">
            <a:extLst xmlns:a="http://schemas.openxmlformats.org/drawingml/2006/main">
              <a:ext uri="{FF2B5EF4-FFF2-40B4-BE49-F238E27FC236}">
                <a16:creationId xmlns:a16="http://schemas.microsoft.com/office/drawing/2014/main" id="{75D9EDA8-B96C-49FA-ACFC-2C5B1540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476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E880"/>
                </a:solidFill>
              </a:defRPr>
            </a:pPr>
            <a:r>
              <a:rPr sz="1125" b="1">
                <a:solidFill>
                  <a:srgbClr val="9BE880"/>
                </a:solidFill>
              </a:rPr>
              <a:t>↔</a:t>
            </a:r>
          </a:p>
        </p:txBody>
      </p:sp>
      <p:sp>
        <p:nvSpPr>
          <p:cNvPr id="101" name="arrow-azure-repos">
            <a:extLst xmlns:a="http://schemas.openxmlformats.org/drawingml/2006/main">
              <a:ext uri="{FF2B5EF4-FFF2-40B4-BE49-F238E27FC236}">
                <a16:creationId xmlns:a16="http://schemas.microsoft.com/office/drawing/2014/main" id="{9A1E00D3-B162-4976-8724-306B9ACA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5627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C8D5"/>
                </a:solidFill>
              </a:defRPr>
            </a:pPr>
            <a:r>
              <a:rPr sz="1125" b="1">
                <a:solidFill>
                  <a:srgbClr val="B9C8D5"/>
                </a:solidFill>
              </a:rPr>
              <a:t>↔</a:t>
            </a:r>
          </a:p>
        </p:txBody>
      </p:sp>
      <p:sp>
        <p:nvSpPr>
          <p:cNvPr id="102" name="arrow-azure-boards">
            <a:extLst xmlns:a="http://schemas.openxmlformats.org/drawingml/2006/main">
              <a:ext uri="{FF2B5EF4-FFF2-40B4-BE49-F238E27FC236}">
                <a16:creationId xmlns:a16="http://schemas.microsoft.com/office/drawing/2014/main" id="{26FC4C54-9894-4412-888C-FBE3930D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71913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C8D5"/>
                </a:solidFill>
              </a:defRPr>
            </a:pPr>
            <a:r>
              <a:rPr sz="1125" b="1">
                <a:solidFill>
                  <a:srgbClr val="B9C8D5"/>
                </a:solidFill>
              </a:rPr>
              <a:t>↔</a:t>
            </a:r>
          </a:p>
        </p:txBody>
      </p:sp>
      <p:sp>
        <p:nvSpPr>
          <p:cNvPr id="103" name="label-user-frontend">
            <a:extLst xmlns:a="http://schemas.openxmlformats.org/drawingml/2006/main">
              <a:ext uri="{FF2B5EF4-FFF2-40B4-BE49-F238E27FC236}">
                <a16:creationId xmlns:a16="http://schemas.microsoft.com/office/drawing/2014/main" id="{9D1EF925-51AC-4FEA-9289-233BA704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529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FC3FF"/>
                </a:solidFill>
              </a:defRPr>
            </a:pPr>
            <a:r>
              <a:rPr sz="900" b="1">
                <a:solidFill>
                  <a:srgbClr val="7FC3FF"/>
                </a:solidFill>
              </a:rPr>
              <a:t>HTTPS</a:t>
            </a:r>
          </a:p>
        </p:txBody>
      </p:sp>
      <p:sp>
        <p:nvSpPr>
          <p:cNvPr id="104" name="label-frontend-backend">
            <a:extLst xmlns:a="http://schemas.openxmlformats.org/drawingml/2006/main">
              <a:ext uri="{FF2B5EF4-FFF2-40B4-BE49-F238E27FC236}">
                <a16:creationId xmlns:a16="http://schemas.microsoft.com/office/drawing/2014/main" id="{04A1D024-8687-43A4-834E-D57D3426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BE880"/>
                </a:solidFill>
              </a:defRPr>
            </a:pPr>
            <a:r>
              <a:rPr sz="900" b="1">
                <a:solidFill>
                  <a:srgbClr val="9BE880"/>
                </a:solidFill>
              </a:rPr>
              <a:t>REST / JSON</a:t>
            </a:r>
          </a:p>
        </p:txBody>
      </p:sp>
      <p:sp>
        <p:nvSpPr>
          <p:cNvPr id="105" name="label-state">
            <a:extLst xmlns:a="http://schemas.openxmlformats.org/drawingml/2006/main">
              <a:ext uri="{FF2B5EF4-FFF2-40B4-BE49-F238E27FC236}">
                <a16:creationId xmlns:a16="http://schemas.microsoft.com/office/drawing/2014/main" id="{81BBC0D2-A356-4B21-8B66-26D87D4E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05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0D8F5"/>
                </a:solidFill>
              </a:defRPr>
            </a:pPr>
            <a:r>
              <a:rPr sz="900" b="1">
                <a:solidFill>
                  <a:srgbClr val="80D8F5"/>
                </a:solidFill>
              </a:rPr>
              <a:t>read / write state + audit</a:t>
            </a:r>
          </a:p>
        </p:txBody>
      </p:sp>
    </p:spTree>
    <p:extLst>
      <p:ext uri="{BB962C8B-B14F-4D97-AF65-F5344CB8AC3E}">
        <p14:creationId xmlns:p14="http://schemas.microsoft.com/office/powerpoint/2010/main" val="2136065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D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lue-accent">
            <a:extLst xmlns:a="http://schemas.openxmlformats.org/drawingml/2006/main">
              <a:ext uri="{FF2B5EF4-FFF2-40B4-BE49-F238E27FC236}">
                <a16:creationId xmlns:a16="http://schemas.microsoft.com/office/drawing/2014/main" id="{D1D709D7-886E-4F53-BA7A-DE6A3E8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477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3EA"/>
          </a:solidFill>
          <a:ln xmlns:a="http://schemas.openxmlformats.org/drawingml/2006/main" w="9525">
            <a:solidFill>
              <a:srgbClr val="0473EA"/>
            </a:solidFill>
            <a:prstDash val="solid"/>
          </a:ln>
        </p:spPr>
      </p:sp>
      <p:sp>
        <p:nvSpPr>
          <p:cNvPr id="2" name="green-accent">
            <a:extLst xmlns:a="http://schemas.openxmlformats.org/drawingml/2006/main">
              <a:ext uri="{FF2B5EF4-FFF2-40B4-BE49-F238E27FC236}">
                <a16:creationId xmlns:a16="http://schemas.microsoft.com/office/drawing/2014/main" id="{B677EC64-AD34-4700-8B63-2EA9725F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0"/>
            <a:ext cx="5810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3" name="blue-panel">
            <a:extLst xmlns:a="http://schemas.openxmlformats.org/drawingml/2006/main">
              <a:ext uri="{FF2B5EF4-FFF2-40B4-BE49-F238E27FC236}">
                <a16:creationId xmlns:a16="http://schemas.microsoft.com/office/drawing/2014/main" id="{2BFB29B1-E517-4D2D-89D3-4B03A12A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2C4A"/>
          </a:solidFill>
          <a:ln xmlns:a="http://schemas.openxmlformats.org/drawingml/2006/main" w="9525">
            <a:solidFill>
              <a:srgbClr val="072C4A"/>
            </a:solidFill>
            <a:prstDash val="solid"/>
          </a:ln>
        </p:spPr>
      </p:sp>
      <p:sp>
        <p:nvSpPr>
          <p:cNvPr id="4" name="green-edge">
            <a:extLst xmlns:a="http://schemas.openxmlformats.org/drawingml/2006/main">
              <a:ext uri="{FF2B5EF4-FFF2-40B4-BE49-F238E27FC236}">
                <a16:creationId xmlns:a16="http://schemas.microsoft.com/office/drawing/2014/main" id="{BBE7AD6A-8333-4728-8B3B-F138C489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5" name="project">
            <a:extLst xmlns:a="http://schemas.openxmlformats.org/drawingml/2006/main">
              <a:ext uri="{FF2B5EF4-FFF2-40B4-BE49-F238E27FC236}">
                <a16:creationId xmlns:a16="http://schemas.microsoft.com/office/drawing/2014/main" id="{4A6CD743-A126-4E82-B07B-EF12C268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Architecture Governance Copilot</a:t>
            </a:r>
          </a:p>
        </p:txBody>
      </p:sp>
      <p:sp>
        <p:nvSpPr>
          <p:cNvPr id="6" name="message">
            <a:extLst xmlns:a="http://schemas.openxmlformats.org/drawingml/2006/main">
              <a:ext uri="{FF2B5EF4-FFF2-40B4-BE49-F238E27FC236}">
                <a16:creationId xmlns:a16="http://schemas.microsoft.com/office/drawing/2014/main" id="{378F4802-8FE6-41C7-B14E-20FA850E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C6D7E4"/>
                </a:solidFill>
              </a:defRPr>
            </a:pPr>
            <a:r>
              <a:rPr sz="2250" b="0">
                <a:solidFill>
                  <a:srgbClr val="C6D7E4"/>
                </a:solidFill>
              </a:rPr>
              <a:t>Traceable evidence. Human-controlled decisions.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D484378D-A926-4222-88C2-DE21B3A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338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200"/>
          </a:solidFill>
          <a:ln xmlns:a="http://schemas.openxmlformats.org/drawingml/2006/main" w="9525">
            <a:solidFill>
              <a:srgbClr val="38D200"/>
            </a:solidFill>
            <a:prstDash val="solid"/>
          </a:ln>
        </p:spPr>
      </p:sp>
      <p:sp>
        <p:nvSpPr>
          <p:cNvPr id="8" name="team">
            <a:extLst xmlns:a="http://schemas.openxmlformats.org/drawingml/2006/main">
              <a:ext uri="{FF2B5EF4-FFF2-40B4-BE49-F238E27FC236}">
                <a16:creationId xmlns:a16="http://schemas.microsoft.com/office/drawing/2014/main" id="{3E3CB8EB-793B-4551-9F4F-0B1146FA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Two Tokens One Brain</a:t>
            </a:r>
          </a:p>
        </p:txBody>
      </p:sp>
      <p:sp>
        <p:nvSpPr>
          <p:cNvPr id="9" name="lead">
            <a:extLst xmlns:a="http://schemas.openxmlformats.org/drawingml/2006/main">
              <a:ext uri="{FF2B5EF4-FFF2-40B4-BE49-F238E27FC236}">
                <a16:creationId xmlns:a16="http://schemas.microsoft.com/office/drawing/2014/main" id="{DCF92647-DE14-4E5E-A476-22C0D349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055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D7E3EC"/>
                </a:solidFill>
              </a:defRPr>
            </a:pPr>
            <a:r>
              <a:rPr sz="2100" b="0">
                <a:solidFill>
                  <a:srgbClr val="D7E3EC"/>
                </a:solidFill>
              </a:rPr>
              <a:t>Zhang1, Yang — Team Lead</a:t>
            </a:r>
          </a:p>
        </p:txBody>
      </p:sp>
      <p:sp>
        <p:nvSpPr>
          <p:cNvPr id="10" name="member">
            <a:extLst xmlns:a="http://schemas.openxmlformats.org/drawingml/2006/main">
              <a:ext uri="{FF2B5EF4-FFF2-40B4-BE49-F238E27FC236}">
                <a16:creationId xmlns:a16="http://schemas.microsoft.com/office/drawing/2014/main" id="{4AECB87B-44F3-4896-BF93-51B3D63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579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D7E3EC"/>
                </a:solidFill>
              </a:defRPr>
            </a:pPr>
            <a:r>
              <a:rPr sz="2100" b="0">
                <a:solidFill>
                  <a:srgbClr val="D7E3EC"/>
                </a:solidFill>
              </a:rPr>
              <a:t>Wang, Ted — Team Member</a:t>
            </a:r>
          </a:p>
        </p:txBody>
      </p:sp>
      <p:sp>
        <p:nvSpPr>
          <p:cNvPr id="11" name="hackathon">
            <a:extLst xmlns:a="http://schemas.openxmlformats.org/drawingml/2006/main">
              <a:ext uri="{FF2B5EF4-FFF2-40B4-BE49-F238E27FC236}">
                <a16:creationId xmlns:a16="http://schemas.microsoft.com/office/drawing/2014/main" id="{6704122E-7836-49D8-BABE-9F2E81FB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77343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8D200"/>
                </a:solidFill>
              </a:defRPr>
            </a:pPr>
            <a:r>
              <a:rPr sz="1575" b="1">
                <a:solidFill>
                  <a:srgbClr val="38D200"/>
                </a:solidFill>
              </a:rPr>
              <a:t>ACCELERATE 3.0 HACKATHON</a:t>
            </a:r>
          </a:p>
        </p:txBody>
      </p:sp>
      <p:sp>
        <p:nvSpPr>
          <p:cNvPr id="12" name="disclaimer">
            <a:extLst xmlns:a="http://schemas.openxmlformats.org/drawingml/2006/main">
              <a:ext uri="{FF2B5EF4-FFF2-40B4-BE49-F238E27FC236}">
                <a16:creationId xmlns:a16="http://schemas.microsoft.com/office/drawing/2014/main" id="{687FA93A-B54A-44F2-ADCB-E2C0569B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572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FA8BA"/>
                </a:solidFill>
              </a:defRPr>
            </a:pPr>
            <a:r>
              <a:rPr sz="1350" b="0">
                <a:solidFill>
                  <a:srgbClr val="8FA8BA"/>
                </a:solidFill>
              </a:rPr>
              <a:t>Synthetic data · Hackathon proof of concept</a:t>
            </a:r>
          </a:p>
        </p:txBody>
      </p:sp>
      <p:sp>
        <p:nvSpPr>
          <p:cNvPr id="14" name="standard-chartered-logo-surface">
            <a:extLst xmlns:a="http://schemas.openxmlformats.org/drawingml/2006/main">
              <a:ext uri="{FF2B5EF4-FFF2-40B4-BE49-F238E27FC236}">
                <a16:creationId xmlns:a16="http://schemas.microsoft.com/office/drawing/2014/main" id="{24E5E0C1-90E7-4C1F-8833-D0259762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2385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12574f7894a7e"/>
          <a:stretch xmlns:a="http://schemas.openxmlformats.org/drawingml/2006/main"/>
        </p:blipFill>
        <p:spPr>
          <a:xfrm xmlns:a="http://schemas.openxmlformats.org/drawingml/2006/main">
            <a:off x="878515" y="3714750"/>
            <a:ext cx="3234070" cy="1390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13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2026-07-22T06:45:43.4110000Z</dcterms:created>
  <dcterms:modified xsi:type="dcterms:W3CDTF">2026-07-22T06:45:43.4110000Z</dcterms:modified>
</coreProperties>
</file>